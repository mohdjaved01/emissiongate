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1825212-49ea-e5a3-f192-c1d7e48510d2}">
          <p14:sldIdLst>
            <p14:sldId id="256"/>
          </p14:sldIdLst>
        </p14:section>
        <p14:section name="Problem and solution" id="{0e4ed436-4920-914a-dcba-108007d1d16e}">
          <p14:sldIdLst>
            <p14:sldId id="257"/>
            <p14:sldId id="258"/>
          </p14:sldIdLst>
        </p14:section>
        <p14:section name="How it works" id="{2492a70d-f51e-aad6-6952-8c973587e1b2}">
          <p14:sldIdLst>
            <p14:sldId id="259"/>
            <p14:sldId id="260"/>
          </p14:sldIdLst>
        </p14:section>
        <p14:section name="Methodology and results" id="{a8c336ff-e5e1-0d95-a611-20d7c5a1699c}">
          <p14:sldIdLst>
            <p14:sldId id="261"/>
            <p14:sldId id="262"/>
            <p14:sldId id="263"/>
          </p14:sldIdLst>
        </p14:section>
        <p14:section name="Efficiency and roadmap" id="{859801b4-c06a-367d-d261-67244d4a23f0}">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B24"/>
                </a:solidFill>
                <a:latin typeface="+mn-lt"/>
              </a:defRPr>
            </a:pPr>
            <a:r>
              <a:rPr sz="1400" b="0" i="0" u="none" strike="noStrike">
                <a:solidFill>
                  <a:srgbClr val="1B2B24"/>
                </a:solidFill>
                <a:latin typeface="+mn-lt"/>
              </a:rPr>
              <a:t>kgCO2e per year, per change</a:t>
            </a:r>
          </a:p>
        </c:rich>
      </c:tx>
      <c:layout/>
      <c:overlay val="0"/>
    </c:title>
    <c:autoTitleDeleted val="0"/>
    <c:plotArea>
      <c:layout/>
      <c:barChart>
        <c:barDir val="bar"/>
        <c:grouping val="stacked"/>
        <c:varyColors val="0"/>
        <c:ser>
          <c:idx val="0"/>
          <c:order val="0"/>
          <c:tx>
            <c:strRef>
              <c:f>Sheet1!$B$1</c:f>
              <c:strCache>
                <c:ptCount val="1"/>
                <c:pt idx="0">
                  <c:v>Avoided by sweep fixes</c:v>
                </c:pt>
              </c:strCache>
            </c:strRef>
          </c:tx>
          <c:spPr>
            <a:solidFill>
              <a:srgbClr val="1F7A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Sweep: schedule idle GPU fleet   −258.1</c:v>
                  </c:pt>
                  <c:pt idx="1">
                    <c:v>Sweep: x86 workers → Graviton   −218.6</c:v>
                  </c:pt>
                  <c:pt idx="2">
                    <c:v>Sweep: rightsize reporting DB   −96.6</c:v>
                  </c:pt>
                  <c:pt idx="3">
                    <c:v>Gate: PR adds 2 × g5.2xlarge   +683.5</c:v>
                  </c:pt>
                  <c:pt idx="4">
                    <c:v>Gate: PR scales 6 → 10 m5.2xlarge   +59.2</c:v>
                  </c:pt>
                </c:lvl>
              </c:multiLvlStrCache>
            </c:multiLvlStrRef>
          </c:cat>
          <c:val>
            <c:numRef>
              <c:f>Sheet1!$B$2:$B$6</c:f>
              <c:numCache>
                <c:formatCode>General</c:formatCode>
                <c:ptCount val="5"/>
                <c:pt idx="0">
                  <c:v>-258.1</c:v>
                </c:pt>
                <c:pt idx="1">
                  <c:v>-218.6</c:v>
                </c:pt>
                <c:pt idx="2">
                  <c:v>-96.6</c:v>
                </c:pt>
                <c:pt idx="3">
                  <c:v>0</c:v>
                </c:pt>
                <c:pt idx="4">
                  <c:v>0</c:v>
                </c:pt>
              </c:numCache>
            </c:numRef>
          </c:val>
        </c:ser>
        <c:ser>
          <c:idx val="1"/>
          <c:order val="1"/>
          <c:tx>
            <c:strRef>
              <c:f>Sheet1!$C$1</c:f>
              <c:strCache>
                <c:ptCount val="1"/>
                <c:pt idx="0">
                  <c:v>Increase caught before merge</c:v>
                </c:pt>
              </c:strCache>
            </c:strRef>
          </c:tx>
          <c:spPr>
            <a:solidFill>
              <a:srgbClr val="C4473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Sweep: schedule idle GPU fleet   −258.1</c:v>
                  </c:pt>
                  <c:pt idx="1">
                    <c:v>Sweep: x86 workers → Graviton   −218.6</c:v>
                  </c:pt>
                  <c:pt idx="2">
                    <c:v>Sweep: rightsize reporting DB   −96.6</c:v>
                  </c:pt>
                  <c:pt idx="3">
                    <c:v>Gate: PR adds 2 × g5.2xlarge   +683.5</c:v>
                  </c:pt>
                  <c:pt idx="4">
                    <c:v>Gate: PR scales 6 → 10 m5.2xlarge   +59.2</c:v>
                  </c:pt>
                </c:lvl>
              </c:multiLvlStrCache>
            </c:multiLvlStrRef>
          </c:cat>
          <c:val>
            <c:numRef>
              <c:f>Sheet1!$C$2:$C$6</c:f>
              <c:numCache>
                <c:formatCode>General</c:formatCode>
                <c:ptCount val="5"/>
                <c:pt idx="0">
                  <c:v>0</c:v>
                </c:pt>
                <c:pt idx="1">
                  <c:v>0</c:v>
                </c:pt>
                <c:pt idx="2">
                  <c:v>0</c:v>
                </c:pt>
                <c:pt idx="3">
                  <c:v>683.5</c:v>
                </c:pt>
                <c:pt idx="4">
                  <c:v>59.2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B24"/>
                </a:solidFill>
                <a:latin typeface="+mn-lt"/>
              </a:defRPr>
            </a:pPr>
            <a:endParaRPr lang="en-US"/>
          </a:p>
        </c:txPr>
        <c:crossAx val="2094734552"/>
        <c:crosses val="autoZero"/>
        <c:auto val="1"/>
        <c:lblAlgn val="ctr"/>
        <c:noMultiLvlLbl val="1"/>
      </c:catAx>
      <c:valAx>
        <c:axId val="2094734552"/>
        <c:scaling>
          <c:orientation val="minMax"/>
          <c:max val="700"/>
          <c:min val="-300"/>
        </c:scaling>
        <c:delete val="0"/>
        <c:axPos val="b"/>
        <c:majorGridlines>
          <c:spPr>
            <a:ln w="9525" cap="flat">
              <a:solidFill>
                <a:srgbClr val="DDE5E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F6F67"/>
                </a:solidFill>
                <a:latin typeface="+mn-lt"/>
              </a:defRPr>
            </a:pPr>
            <a:endParaRPr lang="en-US"/>
          </a:p>
        </c:txPr>
        <c:crossAx val="2094734554"/>
        <c:crosses val="autoZero"/>
        <c:crossBetween val="between"/>
        <c:majorUnit val="100"/>
      </c:valAx>
      <c:spPr>
        <a:noFill/>
        <a:ln>
          <a:noFill/>
        </a:ln>
        <a:effectLst/>
      </c:spPr>
    </c:plotArea>
    <c:legend>
      <c:legendPos val="b"/>
      <c:overlay val="0"/>
      <c:txPr>
        <a:bodyPr/>
        <a:lstStyle/>
        <a:p>
          <a:pPr>
            <a:defRPr sz="1200">
              <a:solidFill>
                <a:srgbClr val="1B2B2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EmissionGate puts carbon where infrastructure decisions are actually made: the pull request. The card on the right is the real comment the gate posts on a PR that adds two GPU instances.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is timing and granularity. The engineer decides at the PR; carbon appears weeks later, aggregated, to someone else. Cost and carbon also rank waste differently, so cost tools are not a proxy.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engine, two entry points. The sweep works from billing and utilisation, so its figures are observed. The gate works from a plan diff; a brand-new resource has no history, so its figure is an assumption published as a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state machine drives thin agents. The model is only called where judgement helps, and only to choose among options the deterministic code offers. Every number comes from core, which cannot import the LLM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 oversight is mandatory in the brief. Here it is structural: the agent has no path to apply, merge, delete or spend. Rejection labels become rules in a checked-in file a human can 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figure follows the Cloud Carbon Footprint model with coefficients vendored at a pinned commit. The weakest number, utilisation of a resource that does not exist yet, is never hidden: it is published as a range and labelled.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sweep fixes avoid 258, 219 and 97 kgCO2e a year. The gate's GPU example would add 684 a year at the assumed load; the scale-out PR adds 59, and its Graviton suggestion would cut 232. Archiving the compliance bucket saves money and almost no carbon, which is why ranking by carbon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not extrapolate to big headline numbers. The impact comes from timing and coverage: every infrastructure change is checked at the one moment it is cheapest to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agent's own sustainability is judged, so it is measured, not claimed. The biggest saving is architectural: the model never does arithmetic and never runs in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goes further than the code; the README status table says exactly which is which. Next is evidence: the bake-off, live PRs, and calibrating the gate's assumptions against what actually deploys.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554480"/>
            <a:ext cx="6583680" cy="118872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640080" y="2834640"/>
            <a:ext cx="6400800" cy="1463040"/>
          </a:xfrm>
          <a:prstGeom prst="rect">
            <a:avLst/>
          </a:prstGeom>
          <a:noFill/>
          <a:ln/>
        </p:spPr>
        <p:txBody>
          <a:bodyPr wrap="square" rtlCol="0"/>
          <a:lstStyle>
            <a:lvl1pPr algn="l" indent="0" marL="0">
              <a:buNone/>
              <a:defRPr lang="en-US" sz="2200" dirty="0">
                <a:solidFill>
                  <a:schemeClr val="accent6"/>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EmissionGate · Prompt, Plan, Preserve · all data synthetic or public</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67"/>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EmissionGate · Prompt, Plan, Preserve · all data synthetic or public</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C5A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67"/>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554480"/>
            <a:ext cx="6583680" cy="118872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EmissionGate</a:t>
            </a:r>
            <a:endParaRPr lang="en-US" sz="5400" dirty="0"/>
          </a:p>
        </p:txBody>
      </p:sp>
      <p:sp>
        <p:nvSpPr>
          <p:cNvPr id="3" name="Text 0"/>
          <p:cNvSpPr/>
          <p:nvPr>
            <p:ph idx="101" type="body" hasCustomPrompt="1"/>
          </p:nvPr>
        </p:nvSpPr>
        <p:spPr>
          <a:xfrm>
            <a:off x="640080" y="2834640"/>
            <a:ext cx="6400800" cy="1463040"/>
          </a:xfrm>
          <a:prstGeom prst="rect">
            <a:avLst/>
          </a:prstGeom>
          <a:noFill/>
          <a:ln/>
        </p:spPr>
        <p:txBody>
          <a:bodyPr wrap="square" lIns="0" tIns="0" rIns="0" bIns="0" rtlCol="0" anchor="t"/>
          <a:lstStyle/>
          <a:p>
            <a:pPr algn="l" indent="0" marL="0">
              <a:buNone/>
            </a:pPr>
            <a:r>
              <a:rPr lang="en-US" sz="2200" dirty="0">
                <a:solidFill>
                  <a:schemeClr val="accent6"/>
                </a:solidFill>
              </a:rPr>
              <a:t>Carbon at merge time. An agent that puts the kgCO2e of cloud and AI infrastructure into the pull request — and leaves the decision to a human.</a:t>
            </a:r>
            <a:endParaRPr lang="en-US" sz="2200" dirty="0"/>
          </a:p>
        </p:txBody>
      </p:sp>
      <p:sp>
        <p:nvSpPr>
          <p:cNvPr id="4" name="byline"/>
          <p:cNvSpPr txBox="1"/>
          <p:nvPr/>
        </p:nvSpPr>
        <p:spPr>
          <a:xfrm>
            <a:off x="640080" y="5852160"/>
            <a:ext cx="8229600" cy="365760"/>
          </a:xfrm>
          <a:prstGeom prst="rect">
            <a:avLst/>
          </a:prstGeom>
          <a:noFill/>
          <a:ln/>
        </p:spPr>
        <p:txBody>
          <a:bodyPr wrap="square" lIns="0" tIns="0" rIns="0" bIns="0" rtlCol="0" anchor="t"/>
          <a:lstStyle/>
          <a:p>
            <a:pPr indent="0" marL="0">
              <a:buNone/>
            </a:pPr>
            <a:r>
              <a:rPr lang="en-US" sz="1400" dirty="0">
                <a:solidFill>
                  <a:schemeClr val="accent6"/>
                </a:solidFill>
              </a:rPr>
              <a:t>Mohd Javed  ·  Prompt, Plan, Preserve: Hacking Sustainability with Agentic AI  ·  October 2026</a:t>
            </a:r>
            <a:endParaRPr lang="en-US" sz="1400" dirty="0"/>
          </a:p>
        </p:txBody>
      </p:sp>
      <p:sp>
        <p:nvSpPr>
          <p:cNvPr id="5" name="pr-card"/>
          <p:cNvSpPr/>
          <p:nvPr/>
        </p:nvSpPr>
        <p:spPr>
          <a:xfrm>
            <a:off x="7680960" y="1463040"/>
            <a:ext cx="3931920" cy="2971800"/>
          </a:xfrm>
          <a:prstGeom prst="roundRect">
            <a:avLst>
              <a:gd name="adj" fmla="val 3692"/>
            </a:avLst>
          </a:prstGeom>
          <a:solidFill>
            <a:schemeClr val="bg1"/>
          </a:solidFill>
          <a:ln w="12700">
            <a:solidFill>
              <a:schemeClr val="bg1"/>
            </a:solidFill>
            <a:prstDash val="solid"/>
          </a:ln>
        </p:spPr>
      </p:sp>
      <p:sp>
        <p:nvSpPr>
          <p:cNvPr id="6" name="pr-card-title"/>
          <p:cNvSpPr txBox="1"/>
          <p:nvPr/>
        </p:nvSpPr>
        <p:spPr>
          <a:xfrm>
            <a:off x="7955280" y="1691640"/>
            <a:ext cx="3474720" cy="365760"/>
          </a:xfrm>
          <a:prstGeom prst="rect">
            <a:avLst/>
          </a:prstGeom>
          <a:noFill/>
          <a:ln/>
        </p:spPr>
        <p:txBody>
          <a:bodyPr wrap="square" lIns="0" tIns="0" rIns="0" bIns="0" rtlCol="0" anchor="t"/>
          <a:lstStyle/>
          <a:p>
            <a:pPr indent="0" marL="0">
              <a:buNone/>
            </a:pPr>
            <a:r>
              <a:rPr lang="en-US" sz="1400" b="1" dirty="0">
                <a:solidFill>
                  <a:schemeClr val="tx2"/>
                </a:solidFill>
              </a:rPr>
              <a:t>EmissionGate — carbon check</a:t>
            </a:r>
            <a:endParaRPr lang="en-US" sz="1400" dirty="0"/>
          </a:p>
        </p:txBody>
      </p:sp>
      <p:sp>
        <p:nvSpPr>
          <p:cNvPr id="7" name="pr-dot"/>
          <p:cNvSpPr/>
          <p:nvPr/>
        </p:nvSpPr>
        <p:spPr>
          <a:xfrm>
            <a:off x="7955280" y="2240280"/>
            <a:ext cx="274320" cy="274320"/>
          </a:xfrm>
          <a:prstGeom prst="ellipse">
            <a:avLst/>
          </a:prstGeom>
          <a:solidFill>
            <a:schemeClr val="accent2"/>
          </a:solidFill>
          <a:ln w="12700">
            <a:solidFill>
              <a:schemeClr val="accent2"/>
            </a:solidFill>
            <a:prstDash val="solid"/>
          </a:ln>
        </p:spPr>
      </p:sp>
      <p:sp>
        <p:nvSpPr>
          <p:cNvPr id="8" name="pr-status"/>
          <p:cNvSpPr txBox="1"/>
          <p:nvPr/>
        </p:nvSpPr>
        <p:spPr>
          <a:xfrm>
            <a:off x="8321040" y="2221992"/>
            <a:ext cx="3108960" cy="320040"/>
          </a:xfrm>
          <a:prstGeom prst="rect">
            <a:avLst/>
          </a:prstGeom>
          <a:noFill/>
          <a:ln/>
        </p:spPr>
        <p:txBody>
          <a:bodyPr wrap="square" lIns="0" tIns="0" rIns="0" bIns="0" rtlCol="0" anchor="t"/>
          <a:lstStyle/>
          <a:p>
            <a:pPr indent="0" marL="0">
              <a:buNone/>
            </a:pPr>
            <a:r>
              <a:rPr lang="en-US" sz="1400" b="1" dirty="0">
                <a:solidFill>
                  <a:schemeClr val="accent2"/>
                </a:solidFill>
              </a:rPr>
              <a:t>Acknowledgement required</a:t>
            </a:r>
            <a:endParaRPr lang="en-US" sz="1400" dirty="0"/>
          </a:p>
        </p:txBody>
      </p:sp>
      <p:sp>
        <p:nvSpPr>
          <p:cNvPr id="9" name="pr-body"/>
          <p:cNvSpPr txBox="1"/>
          <p:nvPr/>
        </p:nvSpPr>
        <p:spPr>
          <a:xfrm>
            <a:off x="7955280" y="2697480"/>
            <a:ext cx="3474720" cy="1920240"/>
          </a:xfrm>
          <a:prstGeom prst="rect">
            <a:avLst/>
          </a:prstGeom>
          <a:noFill/>
          <a:ln/>
        </p:spPr>
        <p:txBody>
          <a:bodyPr wrap="square" lIns="0" tIns="0" rIns="0" bIns="0" rtlCol="0" anchor="t"/>
          <a:lstStyle/>
          <a:p>
            <a:pPr indent="0" marL="0">
              <a:buNone/>
            </a:pPr>
            <a:r>
              <a:rPr lang="en-US" sz="4000" b="1" dirty="0">
                <a:solidFill>
                  <a:schemeClr val="tx1"/>
                </a:solidFill>
                <a:latin typeface="Cambria" pitchFamily="34" charset="0"/>
                <a:ea typeface="Cambria" pitchFamily="34" charset="-122"/>
                <a:cs typeface="Cambria" pitchFamily="34" charset="-120"/>
              </a:rPr>
              <a:t>+683.5</a:t>
            </a:r>
            <a:endParaRPr lang="en-US" sz="4000" dirty="0"/>
          </a:p>
          <a:p>
            <a:pPr indent="0" marL="0">
              <a:buNone/>
            </a:pPr>
            <a:r>
              <a:rPr lang="en-US" sz="1300" dirty="0">
                <a:solidFill>
                  <a:schemeClr val="accent5"/>
                </a:solidFill>
              </a:rPr>
              <a:t>kgCO2e per year · range 263–1,104 (assumed load)</a:t>
            </a:r>
            <a:endParaRPr lang="en-US" sz="4000" dirty="0"/>
          </a:p>
          <a:p>
            <a:pPr indent="0" marL="0">
              <a:buNone/>
            </a:pPr>
            <a:r>
              <a:rPr lang="en-US" sz="800" dirty="0">
                <a:solidFill>
                  <a:srgbClr val="000000"/>
                </a:solidFill>
              </a:rPr>
              <a:t> </a:t>
            </a:r>
            <a:endParaRPr lang="en-US" sz="4000" dirty="0"/>
          </a:p>
          <a:p>
            <a:pPr indent="0" marL="0">
              <a:buNone/>
            </a:pPr>
            <a:r>
              <a:rPr lang="en-US" sz="1200" dirty="0">
                <a:solidFill>
                  <a:schemeClr val="tx1"/>
                </a:solidFill>
                <a:latin typeface="Courier New" pitchFamily="34" charset="0"/>
                <a:ea typeface="Courier New" pitchFamily="34" charset="-122"/>
                <a:cs typeface="Courier New" pitchFamily="34" charset="-120"/>
              </a:rPr>
              <a:t>gpu_fleet: +2 × g5.2xlarge</a:t>
            </a:r>
            <a:endParaRPr lang="en-US" sz="4000" dirty="0"/>
          </a:p>
          <a:p>
            <a:pPr indent="0" marL="0">
              <a:buNone/>
            </a:pPr>
            <a:r>
              <a:rPr lang="en-US" sz="1300" b="1" dirty="0">
                <a:solidFill>
                  <a:schemeClr val="accent1"/>
                </a:solidFill>
              </a:rPr>
              <a:t>Suggestion: weekday schedule (plan ✓)</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Carbon is committed at merge and seen months later</a:t>
            </a:r>
            <a:endParaRPr lang="en-US" sz="3200" dirty="0"/>
          </a:p>
        </p:txBody>
      </p:sp>
      <p:sp>
        <p:nvSpPr>
          <p:cNvPr id="3" name="prob-icon-bg-0"/>
          <p:cNvSpPr/>
          <p:nvPr/>
        </p:nvSpPr>
        <p:spPr>
          <a:xfrm>
            <a:off x="548640" y="1417320"/>
            <a:ext cx="731520" cy="731520"/>
          </a:xfrm>
          <a:prstGeom prst="ellipse">
            <a:avLst/>
          </a:prstGeom>
          <a:solidFill>
            <a:schemeClr val="bg2"/>
          </a:solidFill>
          <a:ln w="12700">
            <a:solidFill>
              <a:schemeClr val="bg2"/>
            </a:solidFill>
            <a:prstDash val="solid"/>
          </a:ln>
        </p:spPr>
      </p:sp>
      <p:pic>
        <p:nvPicPr>
          <p:cNvPr id="4" name="prob-icon-0" descr="preencoded.png">    </p:cNvPr>
          <p:cNvPicPr>
            <a:picLocks noChangeAspect="1"/>
          </p:cNvPicPr>
          <p:nvPr/>
        </p:nvPicPr>
        <p:blipFill>
          <a:blip r:embed="rId1"/>
          <a:stretch>
            <a:fillRect/>
          </a:stretch>
        </p:blipFill>
        <p:spPr>
          <a:xfrm>
            <a:off x="731520" y="1600200"/>
            <a:ext cx="365760" cy="365760"/>
          </a:xfrm>
          <a:prstGeom prst="rect">
            <a:avLst/>
          </a:prstGeom>
        </p:spPr>
      </p:pic>
      <p:sp>
        <p:nvSpPr>
          <p:cNvPr id="5" name="prob-h-0"/>
          <p:cNvSpPr txBox="1"/>
          <p:nvPr/>
        </p:nvSpPr>
        <p:spPr>
          <a:xfrm>
            <a:off x="1508760" y="1399032"/>
            <a:ext cx="4754880" cy="365760"/>
          </a:xfrm>
          <a:prstGeom prst="rect">
            <a:avLst/>
          </a:prstGeom>
          <a:noFill/>
          <a:ln/>
        </p:spPr>
        <p:txBody>
          <a:bodyPr wrap="square" lIns="0" tIns="0" rIns="0" bIns="0" rtlCol="0" anchor="t"/>
          <a:lstStyle/>
          <a:p>
            <a:pPr indent="0" marL="0">
              <a:buNone/>
            </a:pPr>
            <a:r>
              <a:rPr lang="en-US" sz="2000" b="1" dirty="0">
                <a:solidFill>
                  <a:schemeClr val="tx2"/>
                </a:solidFill>
              </a:rPr>
              <a:t>Too late</a:t>
            </a:r>
            <a:endParaRPr lang="en-US" sz="2000" dirty="0"/>
          </a:p>
        </p:txBody>
      </p:sp>
      <p:sp>
        <p:nvSpPr>
          <p:cNvPr id="6" name="prob-b-0"/>
          <p:cNvSpPr txBox="1"/>
          <p:nvPr/>
        </p:nvSpPr>
        <p:spPr>
          <a:xfrm>
            <a:off x="1508760" y="1801368"/>
            <a:ext cx="4754880" cy="868680"/>
          </a:xfrm>
          <a:prstGeom prst="rect">
            <a:avLst/>
          </a:prstGeom>
          <a:noFill/>
          <a:ln/>
        </p:spPr>
        <p:txBody>
          <a:bodyPr wrap="square" lIns="0" tIns="0" rIns="0" bIns="0" rtlCol="0" anchor="t"/>
          <a:lstStyle/>
          <a:p>
            <a:pPr indent="0" marL="0">
              <a:buNone/>
            </a:pPr>
            <a:r>
              <a:rPr lang="en-US" sz="1500" dirty="0">
                <a:solidFill>
                  <a:schemeClr val="tx1"/>
                </a:solidFill>
              </a:rPr>
              <a:t>Cloud carbon reports arrive monthly, by service and region — never per resource, never per change.</a:t>
            </a:r>
            <a:endParaRPr lang="en-US" sz="1500" dirty="0"/>
          </a:p>
        </p:txBody>
      </p:sp>
      <p:sp>
        <p:nvSpPr>
          <p:cNvPr id="7" name="prob-icon-bg-1"/>
          <p:cNvSpPr/>
          <p:nvPr/>
        </p:nvSpPr>
        <p:spPr>
          <a:xfrm>
            <a:off x="548640" y="2926080"/>
            <a:ext cx="731520" cy="731520"/>
          </a:xfrm>
          <a:prstGeom prst="ellipse">
            <a:avLst/>
          </a:prstGeom>
          <a:solidFill>
            <a:schemeClr val="bg2"/>
          </a:solidFill>
          <a:ln w="12700">
            <a:solidFill>
              <a:schemeClr val="bg2"/>
            </a:solidFill>
            <a:prstDash val="solid"/>
          </a:ln>
        </p:spPr>
      </p:sp>
      <p:pic>
        <p:nvPicPr>
          <p:cNvPr id="8" name="prob-icon-1" descr="preencoded.png">    </p:cNvPr>
          <p:cNvPicPr>
            <a:picLocks noChangeAspect="1"/>
          </p:cNvPicPr>
          <p:nvPr/>
        </p:nvPicPr>
        <p:blipFill>
          <a:blip r:embed="rId2"/>
          <a:stretch>
            <a:fillRect/>
          </a:stretch>
        </p:blipFill>
        <p:spPr>
          <a:xfrm>
            <a:off x="731520" y="3108960"/>
            <a:ext cx="365760" cy="365760"/>
          </a:xfrm>
          <a:prstGeom prst="rect">
            <a:avLst/>
          </a:prstGeom>
        </p:spPr>
      </p:pic>
      <p:sp>
        <p:nvSpPr>
          <p:cNvPr id="9" name="prob-h-1"/>
          <p:cNvSpPr txBox="1"/>
          <p:nvPr/>
        </p:nvSpPr>
        <p:spPr>
          <a:xfrm>
            <a:off x="1508760" y="2907792"/>
            <a:ext cx="4754880" cy="365760"/>
          </a:xfrm>
          <a:prstGeom prst="rect">
            <a:avLst/>
          </a:prstGeom>
          <a:noFill/>
          <a:ln/>
        </p:spPr>
        <p:txBody>
          <a:bodyPr wrap="square" lIns="0" tIns="0" rIns="0" bIns="0" rtlCol="0" anchor="t"/>
          <a:lstStyle/>
          <a:p>
            <a:pPr indent="0" marL="0">
              <a:buNone/>
            </a:pPr>
            <a:r>
              <a:rPr lang="en-US" sz="2000" b="1" dirty="0">
                <a:solidFill>
                  <a:schemeClr val="tx2"/>
                </a:solidFill>
              </a:rPr>
              <a:t>Wrong ranking</a:t>
            </a:r>
            <a:endParaRPr lang="en-US" sz="2000" dirty="0"/>
          </a:p>
        </p:txBody>
      </p:sp>
      <p:sp>
        <p:nvSpPr>
          <p:cNvPr id="10" name="prob-b-1"/>
          <p:cNvSpPr txBox="1"/>
          <p:nvPr/>
        </p:nvSpPr>
        <p:spPr>
          <a:xfrm>
            <a:off x="1508760" y="3310128"/>
            <a:ext cx="4754880" cy="868680"/>
          </a:xfrm>
          <a:prstGeom prst="rect">
            <a:avLst/>
          </a:prstGeom>
          <a:noFill/>
          <a:ln/>
        </p:spPr>
        <p:txBody>
          <a:bodyPr wrap="square" lIns="0" tIns="0" rIns="0" bIns="0" rtlCol="0" anchor="t"/>
          <a:lstStyle/>
          <a:p>
            <a:pPr indent="0" marL="0">
              <a:buNone/>
            </a:pPr>
            <a:r>
              <a:rPr lang="en-US" sz="1500" dirty="0">
                <a:solidFill>
                  <a:schemeClr val="tx1"/>
                </a:solidFill>
              </a:rPr>
              <a:t>Cost tools optimise a different list: archiving 40 TB of logs saves money and ≈ 0 kgCO2e; Graviton is the reverse.</a:t>
            </a:r>
            <a:endParaRPr lang="en-US" sz="1500" dirty="0"/>
          </a:p>
        </p:txBody>
      </p:sp>
      <p:sp>
        <p:nvSpPr>
          <p:cNvPr id="11" name="prob-icon-bg-2"/>
          <p:cNvSpPr/>
          <p:nvPr/>
        </p:nvSpPr>
        <p:spPr>
          <a:xfrm>
            <a:off x="548640" y="4434840"/>
            <a:ext cx="731520" cy="731520"/>
          </a:xfrm>
          <a:prstGeom prst="ellipse">
            <a:avLst/>
          </a:prstGeom>
          <a:solidFill>
            <a:schemeClr val="bg2"/>
          </a:solidFill>
          <a:ln w="12700">
            <a:solidFill>
              <a:schemeClr val="bg2"/>
            </a:solidFill>
            <a:prstDash val="solid"/>
          </a:ln>
        </p:spPr>
      </p:sp>
      <p:pic>
        <p:nvPicPr>
          <p:cNvPr id="12" name="prob-icon-2" descr="preencoded.png">    </p:cNvPr>
          <p:cNvPicPr>
            <a:picLocks noChangeAspect="1"/>
          </p:cNvPicPr>
          <p:nvPr/>
        </p:nvPicPr>
        <p:blipFill>
          <a:blip r:embed="rId3"/>
          <a:stretch>
            <a:fillRect/>
          </a:stretch>
        </p:blipFill>
        <p:spPr>
          <a:xfrm>
            <a:off x="731520" y="4617720"/>
            <a:ext cx="365760" cy="365760"/>
          </a:xfrm>
          <a:prstGeom prst="rect">
            <a:avLst/>
          </a:prstGeom>
        </p:spPr>
      </p:pic>
      <p:sp>
        <p:nvSpPr>
          <p:cNvPr id="13" name="prob-h-2"/>
          <p:cNvSpPr txBox="1"/>
          <p:nvPr/>
        </p:nvSpPr>
        <p:spPr>
          <a:xfrm>
            <a:off x="1508760" y="4416552"/>
            <a:ext cx="4754880" cy="365760"/>
          </a:xfrm>
          <a:prstGeom prst="rect">
            <a:avLst/>
          </a:prstGeom>
          <a:noFill/>
          <a:ln/>
        </p:spPr>
        <p:txBody>
          <a:bodyPr wrap="square" lIns="0" tIns="0" rIns="0" bIns="0" rtlCol="0" anchor="t"/>
          <a:lstStyle/>
          <a:p>
            <a:pPr indent="0" marL="0">
              <a:buNone/>
            </a:pPr>
            <a:r>
              <a:rPr lang="en-US" sz="2000" b="1" dirty="0">
                <a:solidFill>
                  <a:schemeClr val="tx2"/>
                </a:solidFill>
              </a:rPr>
              <a:t>Waste runs for months</a:t>
            </a:r>
            <a:endParaRPr lang="en-US" sz="2000" dirty="0"/>
          </a:p>
        </p:txBody>
      </p:sp>
      <p:sp>
        <p:nvSpPr>
          <p:cNvPr id="14" name="prob-b-2"/>
          <p:cNvSpPr txBox="1"/>
          <p:nvPr/>
        </p:nvSpPr>
        <p:spPr>
          <a:xfrm>
            <a:off x="1508760" y="4818888"/>
            <a:ext cx="4754880" cy="868680"/>
          </a:xfrm>
          <a:prstGeom prst="rect">
            <a:avLst/>
          </a:prstGeom>
          <a:noFill/>
          <a:ln/>
        </p:spPr>
        <p:txBody>
          <a:bodyPr wrap="square" lIns="0" tIns="0" rIns="0" bIns="0" rtlCol="0" anchor="t"/>
          <a:lstStyle/>
          <a:p>
            <a:pPr indent="0" marL="0">
              <a:buNone/>
            </a:pPr>
            <a:r>
              <a:rPr lang="en-US" sz="1500" dirty="0">
                <a:solidFill>
                  <a:schemeClr val="tx1"/>
                </a:solidFill>
              </a:rPr>
              <a:t>An idle staging GPU fleet emits 401 kgCO2e a year before anyone links it to the PR that created it.</a:t>
            </a:r>
            <a:endParaRPr lang="en-US" sz="1500" dirty="0"/>
          </a:p>
        </p:txBody>
      </p:sp>
      <p:sp>
        <p:nvSpPr>
          <p:cNvPr id="15" name="timeline-card"/>
          <p:cNvSpPr/>
          <p:nvPr/>
        </p:nvSpPr>
        <p:spPr>
          <a:xfrm>
            <a:off x="6675120" y="1325880"/>
            <a:ext cx="4937760" cy="4800600"/>
          </a:xfrm>
          <a:prstGeom prst="roundRect">
            <a:avLst>
              <a:gd name="adj" fmla="val 2286"/>
            </a:avLst>
          </a:prstGeom>
          <a:solidFill>
            <a:schemeClr val="bg2"/>
          </a:solidFill>
          <a:ln w="12700">
            <a:solidFill>
              <a:schemeClr val="bg2"/>
            </a:solidFill>
            <a:prstDash val="solid"/>
          </a:ln>
        </p:spPr>
      </p:sp>
      <p:sp>
        <p:nvSpPr>
          <p:cNvPr id="16" name="tl-title"/>
          <p:cNvSpPr txBox="1"/>
          <p:nvPr/>
        </p:nvSpPr>
        <p:spPr>
          <a:xfrm>
            <a:off x="6949440" y="1508760"/>
            <a:ext cx="4480560" cy="548640"/>
          </a:xfrm>
          <a:prstGeom prst="rect">
            <a:avLst/>
          </a:prstGeom>
          <a:noFill/>
          <a:ln/>
        </p:spPr>
        <p:txBody>
          <a:bodyPr wrap="square" lIns="0" tIns="0" rIns="0" bIns="0" rtlCol="0" anchor="t"/>
          <a:lstStyle/>
          <a:p>
            <a:pPr indent="0" marL="0">
              <a:buNone/>
            </a:pPr>
            <a:r>
              <a:rPr lang="en-US" sz="1500" b="1" dirty="0">
                <a:solidFill>
                  <a:schemeClr val="tx2"/>
                </a:solidFill>
              </a:rPr>
              <a:t>Where the decision is made vs where carbon appears</a:t>
            </a:r>
            <a:endParaRPr lang="en-US" sz="1500" dirty="0"/>
          </a:p>
        </p:txBody>
      </p:sp>
      <p:sp>
        <p:nvSpPr>
          <p:cNvPr id="17" name="tl-line"/>
          <p:cNvSpPr/>
          <p:nvPr/>
        </p:nvSpPr>
        <p:spPr>
          <a:xfrm>
            <a:off x="7360920" y="2423160"/>
            <a:ext cx="0" cy="3200400"/>
          </a:xfrm>
          <a:prstGeom prst="line">
            <a:avLst/>
          </a:prstGeom>
          <a:noFill/>
          <a:ln w="25400">
            <a:solidFill>
              <a:srgbClr val="5F6F67"/>
            </a:solidFill>
            <a:prstDash val="solid"/>
          </a:ln>
        </p:spPr>
      </p:sp>
      <p:sp>
        <p:nvSpPr>
          <p:cNvPr id="18" name="tl-dot-0"/>
          <p:cNvSpPr/>
          <p:nvPr/>
        </p:nvSpPr>
        <p:spPr>
          <a:xfrm>
            <a:off x="7223760" y="2286000"/>
            <a:ext cx="274320" cy="274320"/>
          </a:xfrm>
          <a:prstGeom prst="ellipse">
            <a:avLst/>
          </a:prstGeom>
          <a:solidFill>
            <a:schemeClr val="accent1"/>
          </a:solidFill>
          <a:ln w="12700">
            <a:solidFill>
              <a:schemeClr val="accent1"/>
            </a:solidFill>
            <a:prstDash val="solid"/>
          </a:ln>
        </p:spPr>
      </p:sp>
      <p:sp>
        <p:nvSpPr>
          <p:cNvPr id="19" name="tl-h-0"/>
          <p:cNvSpPr txBox="1"/>
          <p:nvPr/>
        </p:nvSpPr>
        <p:spPr>
          <a:xfrm>
            <a:off x="7726680" y="2231136"/>
            <a:ext cx="3657600" cy="347472"/>
          </a:xfrm>
          <a:prstGeom prst="rect">
            <a:avLst/>
          </a:prstGeom>
          <a:noFill/>
          <a:ln/>
        </p:spPr>
        <p:txBody>
          <a:bodyPr wrap="square" lIns="0" tIns="0" rIns="0" bIns="0" rtlCol="0" anchor="t"/>
          <a:lstStyle/>
          <a:p>
            <a:pPr indent="0" marL="0">
              <a:buNone/>
            </a:pPr>
            <a:r>
              <a:rPr lang="en-US" sz="1600" b="1" dirty="0">
                <a:solidFill>
                  <a:schemeClr val="tx1"/>
                </a:solidFill>
              </a:rPr>
              <a:t>PR merged</a:t>
            </a:r>
            <a:endParaRPr lang="en-US" sz="1600" dirty="0"/>
          </a:p>
        </p:txBody>
      </p:sp>
      <p:sp>
        <p:nvSpPr>
          <p:cNvPr id="20" name="tl-b-0"/>
          <p:cNvSpPr txBox="1"/>
          <p:nvPr/>
        </p:nvSpPr>
        <p:spPr>
          <a:xfrm>
            <a:off x="7726680" y="2560320"/>
            <a:ext cx="3657600" cy="320040"/>
          </a:xfrm>
          <a:prstGeom prst="rect">
            <a:avLst/>
          </a:prstGeom>
          <a:noFill/>
          <a:ln/>
        </p:spPr>
        <p:txBody>
          <a:bodyPr wrap="square" lIns="0" tIns="0" rIns="0" bIns="0" rtlCol="0" anchor="t"/>
          <a:lstStyle/>
          <a:p>
            <a:pPr indent="0" marL="0">
              <a:buNone/>
            </a:pPr>
            <a:r>
              <a:rPr lang="en-US" sz="1300" dirty="0">
                <a:solidFill>
                  <a:schemeClr val="accent5"/>
                </a:solidFill>
              </a:rPr>
              <a:t>the decision</a:t>
            </a:r>
            <a:endParaRPr lang="en-US" sz="1300" dirty="0"/>
          </a:p>
        </p:txBody>
      </p:sp>
      <p:sp>
        <p:nvSpPr>
          <p:cNvPr id="21" name="tl-dot-1"/>
          <p:cNvSpPr/>
          <p:nvPr/>
        </p:nvSpPr>
        <p:spPr>
          <a:xfrm>
            <a:off x="7223760" y="3310128"/>
            <a:ext cx="274320" cy="274320"/>
          </a:xfrm>
          <a:prstGeom prst="ellipse">
            <a:avLst/>
          </a:prstGeom>
          <a:solidFill>
            <a:schemeClr val="accent3"/>
          </a:solidFill>
          <a:ln w="12700">
            <a:solidFill>
              <a:schemeClr val="accent3"/>
            </a:solidFill>
            <a:prstDash val="solid"/>
          </a:ln>
        </p:spPr>
      </p:sp>
      <p:sp>
        <p:nvSpPr>
          <p:cNvPr id="22" name="tl-h-1"/>
          <p:cNvSpPr txBox="1"/>
          <p:nvPr/>
        </p:nvSpPr>
        <p:spPr>
          <a:xfrm>
            <a:off x="7726680" y="3255264"/>
            <a:ext cx="3657600" cy="347472"/>
          </a:xfrm>
          <a:prstGeom prst="rect">
            <a:avLst/>
          </a:prstGeom>
          <a:noFill/>
          <a:ln/>
        </p:spPr>
        <p:txBody>
          <a:bodyPr wrap="square" lIns="0" tIns="0" rIns="0" bIns="0" rtlCol="0" anchor="t"/>
          <a:lstStyle/>
          <a:p>
            <a:pPr indent="0" marL="0">
              <a:buNone/>
            </a:pPr>
            <a:r>
              <a:rPr lang="en-US" sz="1600" b="1" dirty="0">
                <a:solidFill>
                  <a:schemeClr val="tx1"/>
                </a:solidFill>
              </a:rPr>
              <a:t>Deployed, runs 24 × 7</a:t>
            </a:r>
            <a:endParaRPr lang="en-US" sz="1600" dirty="0"/>
          </a:p>
        </p:txBody>
      </p:sp>
      <p:sp>
        <p:nvSpPr>
          <p:cNvPr id="23" name="tl-b-1"/>
          <p:cNvSpPr txBox="1"/>
          <p:nvPr/>
        </p:nvSpPr>
        <p:spPr>
          <a:xfrm>
            <a:off x="7726680" y="3584448"/>
            <a:ext cx="3657600" cy="320040"/>
          </a:xfrm>
          <a:prstGeom prst="rect">
            <a:avLst/>
          </a:prstGeom>
          <a:noFill/>
          <a:ln/>
        </p:spPr>
        <p:txBody>
          <a:bodyPr wrap="square" lIns="0" tIns="0" rIns="0" bIns="0" rtlCol="0" anchor="t"/>
          <a:lstStyle/>
          <a:p>
            <a:pPr indent="0" marL="0">
              <a:buNone/>
            </a:pPr>
            <a:r>
              <a:rPr lang="en-US" sz="1300" dirty="0">
                <a:solidFill>
                  <a:schemeClr val="accent5"/>
                </a:solidFill>
              </a:rPr>
              <a:t>emissions start</a:t>
            </a:r>
            <a:endParaRPr lang="en-US" sz="1300" dirty="0"/>
          </a:p>
        </p:txBody>
      </p:sp>
      <p:sp>
        <p:nvSpPr>
          <p:cNvPr id="24" name="tl-dot-2"/>
          <p:cNvSpPr/>
          <p:nvPr/>
        </p:nvSpPr>
        <p:spPr>
          <a:xfrm>
            <a:off x="7223760" y="4334256"/>
            <a:ext cx="274320" cy="274320"/>
          </a:xfrm>
          <a:prstGeom prst="ellipse">
            <a:avLst/>
          </a:prstGeom>
          <a:solidFill>
            <a:schemeClr val="accent5"/>
          </a:solidFill>
          <a:ln w="12700">
            <a:solidFill>
              <a:schemeClr val="accent5"/>
            </a:solidFill>
            <a:prstDash val="solid"/>
          </a:ln>
        </p:spPr>
      </p:sp>
      <p:sp>
        <p:nvSpPr>
          <p:cNvPr id="25" name="tl-h-2"/>
          <p:cNvSpPr txBox="1"/>
          <p:nvPr/>
        </p:nvSpPr>
        <p:spPr>
          <a:xfrm>
            <a:off x="7726680" y="4279392"/>
            <a:ext cx="3657600" cy="347472"/>
          </a:xfrm>
          <a:prstGeom prst="rect">
            <a:avLst/>
          </a:prstGeom>
          <a:noFill/>
          <a:ln/>
        </p:spPr>
        <p:txBody>
          <a:bodyPr wrap="square" lIns="0" tIns="0" rIns="0" bIns="0" rtlCol="0" anchor="t"/>
          <a:lstStyle/>
          <a:p>
            <a:pPr indent="0" marL="0">
              <a:buNone/>
            </a:pPr>
            <a:r>
              <a:rPr lang="en-US" sz="1600" b="1" dirty="0">
                <a:solidFill>
                  <a:schemeClr val="tx1"/>
                </a:solidFill>
              </a:rPr>
              <a:t>Month-end bill</a:t>
            </a:r>
            <a:endParaRPr lang="en-US" sz="1600" dirty="0"/>
          </a:p>
        </p:txBody>
      </p:sp>
      <p:sp>
        <p:nvSpPr>
          <p:cNvPr id="26" name="tl-b-2"/>
          <p:cNvSpPr txBox="1"/>
          <p:nvPr/>
        </p:nvSpPr>
        <p:spPr>
          <a:xfrm>
            <a:off x="7726680" y="4608576"/>
            <a:ext cx="3657600" cy="320040"/>
          </a:xfrm>
          <a:prstGeom prst="rect">
            <a:avLst/>
          </a:prstGeom>
          <a:noFill/>
          <a:ln/>
        </p:spPr>
        <p:txBody>
          <a:bodyPr wrap="square" lIns="0" tIns="0" rIns="0" bIns="0" rtlCol="0" anchor="t"/>
          <a:lstStyle/>
          <a:p>
            <a:pPr indent="0" marL="0">
              <a:buNone/>
            </a:pPr>
            <a:r>
              <a:rPr lang="en-US" sz="1300" dirty="0">
                <a:solidFill>
                  <a:schemeClr val="accent5"/>
                </a:solidFill>
              </a:rPr>
              <a:t>cost visible</a:t>
            </a:r>
            <a:endParaRPr lang="en-US" sz="1300" dirty="0"/>
          </a:p>
        </p:txBody>
      </p:sp>
      <p:sp>
        <p:nvSpPr>
          <p:cNvPr id="27" name="tl-dot-3"/>
          <p:cNvSpPr/>
          <p:nvPr/>
        </p:nvSpPr>
        <p:spPr>
          <a:xfrm>
            <a:off x="7223760" y="5358384"/>
            <a:ext cx="274320" cy="274320"/>
          </a:xfrm>
          <a:prstGeom prst="ellipse">
            <a:avLst/>
          </a:prstGeom>
          <a:solidFill>
            <a:schemeClr val="accent2"/>
          </a:solidFill>
          <a:ln w="12700">
            <a:solidFill>
              <a:schemeClr val="accent2"/>
            </a:solidFill>
            <a:prstDash val="solid"/>
          </a:ln>
        </p:spPr>
      </p:sp>
      <p:sp>
        <p:nvSpPr>
          <p:cNvPr id="28" name="tl-h-3"/>
          <p:cNvSpPr txBox="1"/>
          <p:nvPr/>
        </p:nvSpPr>
        <p:spPr>
          <a:xfrm>
            <a:off x="7726680" y="5303520"/>
            <a:ext cx="3657600" cy="347472"/>
          </a:xfrm>
          <a:prstGeom prst="rect">
            <a:avLst/>
          </a:prstGeom>
          <a:noFill/>
          <a:ln/>
        </p:spPr>
        <p:txBody>
          <a:bodyPr wrap="square" lIns="0" tIns="0" rIns="0" bIns="0" rtlCol="0" anchor="t"/>
          <a:lstStyle/>
          <a:p>
            <a:pPr indent="0" marL="0">
              <a:buNone/>
            </a:pPr>
            <a:r>
              <a:rPr lang="en-US" sz="1600" b="1" dirty="0">
                <a:solidFill>
                  <a:schemeClr val="tx1"/>
                </a:solidFill>
              </a:rPr>
              <a:t>Carbon report</a:t>
            </a:r>
            <a:endParaRPr lang="en-US" sz="1600" dirty="0"/>
          </a:p>
        </p:txBody>
      </p:sp>
      <p:sp>
        <p:nvSpPr>
          <p:cNvPr id="29" name="tl-b-3"/>
          <p:cNvSpPr txBox="1"/>
          <p:nvPr/>
        </p:nvSpPr>
        <p:spPr>
          <a:xfrm>
            <a:off x="7726680" y="5632704"/>
            <a:ext cx="3657600" cy="320040"/>
          </a:xfrm>
          <a:prstGeom prst="rect">
            <a:avLst/>
          </a:prstGeom>
          <a:noFill/>
          <a:ln/>
        </p:spPr>
        <p:txBody>
          <a:bodyPr wrap="square" lIns="0" tIns="0" rIns="0" bIns="0" rtlCol="0" anchor="t"/>
          <a:lstStyle/>
          <a:p>
            <a:pPr indent="0" marL="0">
              <a:buNone/>
            </a:pPr>
            <a:r>
              <a:rPr lang="en-US" sz="1300" dirty="0">
                <a:solidFill>
                  <a:schemeClr val="accent5"/>
                </a:solidFill>
              </a:rPr>
              <a:t>carbon visible, by region</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67"/>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Two modes, one engine</a:t>
            </a:r>
            <a:endParaRPr lang="en-US" sz="3200" dirty="0"/>
          </a:p>
        </p:txBody>
      </p:sp>
      <p:pic>
        <p:nvPicPr>
          <p:cNvPr id="3" name="overview-diagram" descr="Sweep and gate triggers feed one engine: quantifier, strategist, validator; outputs are fix PRs and PR comments">    </p:cNvPr>
          <p:cNvPicPr>
            <a:picLocks noChangeAspect="1"/>
          </p:cNvPicPr>
          <p:nvPr/>
        </p:nvPicPr>
        <p:blipFill>
          <a:blip r:embed="rId1"/>
          <a:stretch>
            <a:fillRect/>
          </a:stretch>
        </p:blipFill>
        <p:spPr>
          <a:xfrm>
            <a:off x="548640" y="1234440"/>
            <a:ext cx="11064240" cy="3086413"/>
          </a:xfrm>
          <a:prstGeom prst="rect">
            <a:avLst/>
          </a:prstGeom>
        </p:spPr>
      </p:pic>
      <p:sp>
        <p:nvSpPr>
          <p:cNvPr id="4" name="sol-card-0"/>
          <p:cNvSpPr/>
          <p:nvPr/>
        </p:nvSpPr>
        <p:spPr>
          <a:xfrm>
            <a:off x="548640" y="4526280"/>
            <a:ext cx="3566160" cy="1645920"/>
          </a:xfrm>
          <a:prstGeom prst="roundRect">
            <a:avLst>
              <a:gd name="adj" fmla="val 6667"/>
            </a:avLst>
          </a:prstGeom>
          <a:solidFill>
            <a:schemeClr val="bg2"/>
          </a:solidFill>
          <a:ln w="12700">
            <a:solidFill>
              <a:schemeClr val="bg2"/>
            </a:solidFill>
            <a:prstDash val="solid"/>
          </a:ln>
        </p:spPr>
      </p:sp>
      <p:sp>
        <p:nvSpPr>
          <p:cNvPr id="5" name="sol-h-0"/>
          <p:cNvSpPr txBox="1"/>
          <p:nvPr/>
        </p:nvSpPr>
        <p:spPr>
          <a:xfrm>
            <a:off x="777240" y="4681728"/>
            <a:ext cx="3108960" cy="365760"/>
          </a:xfrm>
          <a:prstGeom prst="rect">
            <a:avLst/>
          </a:prstGeom>
          <a:noFill/>
          <a:ln/>
        </p:spPr>
        <p:txBody>
          <a:bodyPr wrap="square" lIns="0" tIns="0" rIns="0" bIns="0" rtlCol="0" anchor="t"/>
          <a:lstStyle/>
          <a:p>
            <a:pPr indent="0" marL="0">
              <a:buNone/>
            </a:pPr>
            <a:r>
              <a:rPr lang="en-US" sz="1800" b="1" dirty="0">
                <a:solidFill>
                  <a:schemeClr val="accent1"/>
                </a:solidFill>
              </a:rPr>
              <a:t>Sweep</a:t>
            </a:r>
            <a:endParaRPr lang="en-US" sz="1800" dirty="0"/>
          </a:p>
        </p:txBody>
      </p:sp>
      <p:sp>
        <p:nvSpPr>
          <p:cNvPr id="6" name="sol-b-0"/>
          <p:cNvSpPr txBox="1"/>
          <p:nvPr/>
        </p:nvSpPr>
        <p:spPr>
          <a:xfrm>
            <a:off x="777240" y="5074920"/>
            <a:ext cx="3108960" cy="1005840"/>
          </a:xfrm>
          <a:prstGeom prst="rect">
            <a:avLst/>
          </a:prstGeom>
          <a:noFill/>
          <a:ln/>
        </p:spPr>
        <p:txBody>
          <a:bodyPr wrap="square" lIns="0" tIns="0" rIns="0" bIns="0" rtlCol="0" anchor="t"/>
          <a:lstStyle/>
          <a:p>
            <a:pPr indent="0" marL="0">
              <a:buNone/>
            </a:pPr>
            <a:r>
              <a:rPr lang="en-US" sz="1400" dirty="0">
                <a:solidFill>
                  <a:schemeClr val="tx1"/>
                </a:solidFill>
              </a:rPr>
              <a:t>Finds waste in running infrastructure and drafts the fix as a PR, with kgCO2e, cost and evidence.</a:t>
            </a:r>
            <a:endParaRPr lang="en-US" sz="1400" dirty="0"/>
          </a:p>
        </p:txBody>
      </p:sp>
      <p:sp>
        <p:nvSpPr>
          <p:cNvPr id="7" name="sol-card-1"/>
          <p:cNvSpPr/>
          <p:nvPr/>
        </p:nvSpPr>
        <p:spPr>
          <a:xfrm>
            <a:off x="4297680" y="4526280"/>
            <a:ext cx="3566160" cy="1645920"/>
          </a:xfrm>
          <a:prstGeom prst="roundRect">
            <a:avLst>
              <a:gd name="adj" fmla="val 6667"/>
            </a:avLst>
          </a:prstGeom>
          <a:solidFill>
            <a:schemeClr val="bg2"/>
          </a:solidFill>
          <a:ln w="12700">
            <a:solidFill>
              <a:schemeClr val="bg2"/>
            </a:solidFill>
            <a:prstDash val="solid"/>
          </a:ln>
        </p:spPr>
      </p:sp>
      <p:sp>
        <p:nvSpPr>
          <p:cNvPr id="8" name="sol-h-1"/>
          <p:cNvSpPr txBox="1"/>
          <p:nvPr/>
        </p:nvSpPr>
        <p:spPr>
          <a:xfrm>
            <a:off x="4526280" y="4681728"/>
            <a:ext cx="3108960" cy="365760"/>
          </a:xfrm>
          <a:prstGeom prst="rect">
            <a:avLst/>
          </a:prstGeom>
          <a:noFill/>
          <a:ln/>
        </p:spPr>
        <p:txBody>
          <a:bodyPr wrap="square" lIns="0" tIns="0" rIns="0" bIns="0" rtlCol="0" anchor="t"/>
          <a:lstStyle/>
          <a:p>
            <a:pPr indent="0" marL="0">
              <a:buNone/>
            </a:pPr>
            <a:r>
              <a:rPr lang="en-US" sz="1800" b="1" dirty="0">
                <a:solidFill>
                  <a:schemeClr val="accent4"/>
                </a:solidFill>
              </a:rPr>
              <a:t>Gate</a:t>
            </a:r>
            <a:endParaRPr lang="en-US" sz="1800" dirty="0"/>
          </a:p>
        </p:txBody>
      </p:sp>
      <p:sp>
        <p:nvSpPr>
          <p:cNvPr id="9" name="sol-b-1"/>
          <p:cNvSpPr txBox="1"/>
          <p:nvPr/>
        </p:nvSpPr>
        <p:spPr>
          <a:xfrm>
            <a:off x="4526280" y="5074920"/>
            <a:ext cx="3108960" cy="1005840"/>
          </a:xfrm>
          <a:prstGeom prst="rect">
            <a:avLst/>
          </a:prstGeom>
          <a:noFill/>
          <a:ln/>
        </p:spPr>
        <p:txBody>
          <a:bodyPr wrap="square" lIns="0" tIns="0" rIns="0" bIns="0" rtlCol="0" anchor="t"/>
          <a:lstStyle/>
          <a:p>
            <a:pPr indent="0" marL="0">
              <a:buNone/>
            </a:pPr>
            <a:r>
              <a:rPr lang="en-US" sz="1400" dirty="0">
                <a:solidFill>
                  <a:schemeClr val="tx1"/>
                </a:solidFill>
              </a:rPr>
              <a:t>Checks every infrastructure PR before merge; posts the delta and validated lower-carbon suggestions.</a:t>
            </a:r>
            <a:endParaRPr lang="en-US" sz="1400" dirty="0"/>
          </a:p>
        </p:txBody>
      </p:sp>
      <p:sp>
        <p:nvSpPr>
          <p:cNvPr id="10" name="sol-card-2"/>
          <p:cNvSpPr/>
          <p:nvPr/>
        </p:nvSpPr>
        <p:spPr>
          <a:xfrm>
            <a:off x="8046720" y="4526280"/>
            <a:ext cx="3566160" cy="1645920"/>
          </a:xfrm>
          <a:prstGeom prst="roundRect">
            <a:avLst>
              <a:gd name="adj" fmla="val 6667"/>
            </a:avLst>
          </a:prstGeom>
          <a:solidFill>
            <a:schemeClr val="bg2"/>
          </a:solidFill>
          <a:ln w="12700">
            <a:solidFill>
              <a:schemeClr val="bg2"/>
            </a:solidFill>
            <a:prstDash val="solid"/>
          </a:ln>
        </p:spPr>
      </p:sp>
      <p:sp>
        <p:nvSpPr>
          <p:cNvPr id="11" name="sol-h-2"/>
          <p:cNvSpPr txBox="1"/>
          <p:nvPr/>
        </p:nvSpPr>
        <p:spPr>
          <a:xfrm>
            <a:off x="8275320" y="4681728"/>
            <a:ext cx="3108960" cy="365760"/>
          </a:xfrm>
          <a:prstGeom prst="rect">
            <a:avLst/>
          </a:prstGeom>
          <a:noFill/>
          <a:ln/>
        </p:spPr>
        <p:txBody>
          <a:bodyPr wrap="square" lIns="0" tIns="0" rIns="0" bIns="0" rtlCol="0" anchor="t"/>
          <a:lstStyle/>
          <a:p>
            <a:pPr indent="0" marL="0">
              <a:buNone/>
            </a:pPr>
            <a:r>
              <a:rPr lang="en-US" sz="1800" b="1" dirty="0">
                <a:solidFill>
                  <a:schemeClr val="accent3"/>
                </a:solidFill>
              </a:rPr>
              <a:t>One set of numbers</a:t>
            </a:r>
            <a:endParaRPr lang="en-US" sz="1800" dirty="0"/>
          </a:p>
        </p:txBody>
      </p:sp>
      <p:sp>
        <p:nvSpPr>
          <p:cNvPr id="12" name="sol-b-2"/>
          <p:cNvSpPr txBox="1"/>
          <p:nvPr/>
        </p:nvSpPr>
        <p:spPr>
          <a:xfrm>
            <a:off x="8275320" y="5074920"/>
            <a:ext cx="3108960" cy="1005840"/>
          </a:xfrm>
          <a:prstGeom prst="rect">
            <a:avLst/>
          </a:prstGeom>
          <a:noFill/>
          <a:ln/>
        </p:spPr>
        <p:txBody>
          <a:bodyPr wrap="square" lIns="0" tIns="0" rIns="0" bIns="0" rtlCol="0" anchor="t"/>
          <a:lstStyle/>
          <a:p>
            <a:pPr indent="0" marL="0">
              <a:buNone/>
            </a:pPr>
            <a:r>
              <a:rPr lang="en-US" sz="1400" dirty="0">
                <a:solidFill>
                  <a:schemeClr val="tx1"/>
                </a:solidFill>
              </a:rPr>
              <a:t>Both modes share every component that produces a figure, so a comment and a report always agree.</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67"/>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How it works: deterministic numbers, bounded judgement</a:t>
            </a:r>
            <a:endParaRPr lang="en-US" sz="3200" dirty="0"/>
          </a:p>
        </p:txBody>
      </p:sp>
      <p:sp>
        <p:nvSpPr>
          <p:cNvPr id="3" name="step-0"/>
          <p:cNvSpPr/>
          <p:nvPr/>
        </p:nvSpPr>
        <p:spPr>
          <a:xfrm>
            <a:off x="548640" y="1463040"/>
            <a:ext cx="1261872" cy="914400"/>
          </a:xfrm>
          <a:prstGeom prst="roundRect">
            <a:avLst>
              <a:gd name="adj" fmla="val 12000"/>
            </a:avLst>
          </a:prstGeom>
          <a:solidFill>
            <a:schemeClr val="accent3"/>
          </a:solidFill>
          <a:ln w="12700">
            <a:solidFill>
              <a:schemeClr val="accent3"/>
            </a:solidFill>
            <a:prstDash val="solid"/>
          </a:ln>
        </p:spPr>
      </p:sp>
      <p:sp>
        <p:nvSpPr>
          <p:cNvPr id="4" name="step-label-0"/>
          <p:cNvSpPr txBox="1"/>
          <p:nvPr/>
        </p:nvSpPr>
        <p:spPr>
          <a:xfrm>
            <a:off x="594360" y="1463040"/>
            <a:ext cx="1170432" cy="914400"/>
          </a:xfrm>
          <a:prstGeom prst="rect">
            <a:avLst/>
          </a:prstGeom>
          <a:noFill/>
          <a:ln/>
        </p:spPr>
        <p:txBody>
          <a:bodyPr wrap="square" lIns="0" tIns="0" rIns="0" bIns="0" rtlCol="0" anchor="ctr"/>
          <a:lstStyle/>
          <a:p>
            <a:pPr algn="ctr" indent="0" marL="0">
              <a:buNone/>
            </a:pPr>
            <a:r>
              <a:rPr lang="en-US" sz="1500" b="1" dirty="0">
                <a:solidFill>
                  <a:schemeClr val="bg1"/>
                </a:solidFill>
              </a:rPr>
              <a:t>Gate 1</a:t>
            </a:r>
            <a:endParaRPr lang="en-US" sz="1500" dirty="0"/>
          </a:p>
        </p:txBody>
      </p:sp>
      <p:sp>
        <p:nvSpPr>
          <p:cNvPr id="5" name="step-desc-0"/>
          <p:cNvSpPr txBox="1"/>
          <p:nvPr/>
        </p:nvSpPr>
        <p:spPr>
          <a:xfrm>
            <a:off x="548640" y="2487168"/>
            <a:ext cx="1261872" cy="685800"/>
          </a:xfrm>
          <a:prstGeom prst="rect">
            <a:avLst/>
          </a:prstGeom>
          <a:noFill/>
          <a:ln/>
        </p:spPr>
        <p:txBody>
          <a:bodyPr wrap="square" lIns="0" tIns="0" rIns="0" bIns="0" rtlCol="0" anchor="t"/>
          <a:lstStyle/>
          <a:p>
            <a:pPr algn="ctr" indent="0" marL="0">
              <a:buNone/>
            </a:pPr>
            <a:r>
              <a:rPr lang="en-US" sz="1100" dirty="0">
                <a:solidFill>
                  <a:schemeClr val="tx1"/>
                </a:solidFill>
              </a:rPr>
              <a:t>approve scope and budget</a:t>
            </a:r>
            <a:endParaRPr lang="en-US" sz="1100" dirty="0"/>
          </a:p>
        </p:txBody>
      </p:sp>
      <p:sp>
        <p:nvSpPr>
          <p:cNvPr id="6" name="step-1"/>
          <p:cNvSpPr/>
          <p:nvPr/>
        </p:nvSpPr>
        <p:spPr>
          <a:xfrm>
            <a:off x="1947672" y="1463040"/>
            <a:ext cx="1261872" cy="914400"/>
          </a:xfrm>
          <a:prstGeom prst="roundRect">
            <a:avLst>
              <a:gd name="adj" fmla="val 12000"/>
            </a:avLst>
          </a:prstGeom>
          <a:solidFill>
            <a:schemeClr val="accent1"/>
          </a:solidFill>
          <a:ln w="12700">
            <a:solidFill>
              <a:schemeClr val="accent1"/>
            </a:solidFill>
            <a:prstDash val="solid"/>
          </a:ln>
        </p:spPr>
      </p:sp>
      <p:sp>
        <p:nvSpPr>
          <p:cNvPr id="7" name="step-label-1"/>
          <p:cNvSpPr txBox="1"/>
          <p:nvPr/>
        </p:nvSpPr>
        <p:spPr>
          <a:xfrm>
            <a:off x="1993392" y="1463040"/>
            <a:ext cx="1170432" cy="914400"/>
          </a:xfrm>
          <a:prstGeom prst="rect">
            <a:avLst/>
          </a:prstGeom>
          <a:noFill/>
          <a:ln/>
        </p:spPr>
        <p:txBody>
          <a:bodyPr wrap="square" lIns="0" tIns="0" rIns="0" bIns="0" rtlCol="0" anchor="ctr"/>
          <a:lstStyle/>
          <a:p>
            <a:pPr algn="ctr" indent="0" marL="0">
              <a:buNone/>
            </a:pPr>
            <a:r>
              <a:rPr lang="en-US" sz="1500" b="1" dirty="0">
                <a:solidFill>
                  <a:schemeClr val="bg1"/>
                </a:solidFill>
              </a:rPr>
              <a:t>Planner</a:t>
            </a:r>
            <a:endParaRPr lang="en-US" sz="1500" dirty="0"/>
          </a:p>
        </p:txBody>
      </p:sp>
      <p:sp>
        <p:nvSpPr>
          <p:cNvPr id="8" name="step-desc-1"/>
          <p:cNvSpPr txBox="1"/>
          <p:nvPr/>
        </p:nvSpPr>
        <p:spPr>
          <a:xfrm>
            <a:off x="1947672" y="2487168"/>
            <a:ext cx="1261872" cy="685800"/>
          </a:xfrm>
          <a:prstGeom prst="rect">
            <a:avLst/>
          </a:prstGeom>
          <a:noFill/>
          <a:ln/>
        </p:spPr>
        <p:txBody>
          <a:bodyPr wrap="square" lIns="0" tIns="0" rIns="0" bIns="0" rtlCol="0" anchor="t"/>
          <a:lstStyle/>
          <a:p>
            <a:pPr algn="ctr" indent="0" marL="0">
              <a:buNone/>
            </a:pPr>
            <a:r>
              <a:rPr lang="en-US" sz="1100" dirty="0">
                <a:solidFill>
                  <a:schemeClr val="tx1"/>
                </a:solidFill>
              </a:rPr>
              <a:t>scan order within budget</a:t>
            </a:r>
            <a:endParaRPr lang="en-US" sz="1100" dirty="0"/>
          </a:p>
        </p:txBody>
      </p:sp>
      <p:sp>
        <p:nvSpPr>
          <p:cNvPr id="9" name="step-2"/>
          <p:cNvSpPr/>
          <p:nvPr/>
        </p:nvSpPr>
        <p:spPr>
          <a:xfrm>
            <a:off x="3346704" y="1463040"/>
            <a:ext cx="1261872" cy="914400"/>
          </a:xfrm>
          <a:prstGeom prst="roundRect">
            <a:avLst>
              <a:gd name="adj" fmla="val 12000"/>
            </a:avLst>
          </a:prstGeom>
          <a:solidFill>
            <a:schemeClr val="accent4"/>
          </a:solidFill>
          <a:ln w="12700">
            <a:solidFill>
              <a:schemeClr val="accent4"/>
            </a:solidFill>
            <a:prstDash val="solid"/>
          </a:ln>
        </p:spPr>
      </p:sp>
      <p:sp>
        <p:nvSpPr>
          <p:cNvPr id="10" name="step-label-2"/>
          <p:cNvSpPr txBox="1"/>
          <p:nvPr/>
        </p:nvSpPr>
        <p:spPr>
          <a:xfrm>
            <a:off x="3392424" y="1463040"/>
            <a:ext cx="1170432" cy="914400"/>
          </a:xfrm>
          <a:prstGeom prst="rect">
            <a:avLst/>
          </a:prstGeom>
          <a:noFill/>
          <a:ln/>
        </p:spPr>
        <p:txBody>
          <a:bodyPr wrap="square" lIns="0" tIns="0" rIns="0" bIns="0" rtlCol="0" anchor="ctr"/>
          <a:lstStyle/>
          <a:p>
            <a:pPr algn="ctr" indent="0" marL="0">
              <a:buNone/>
            </a:pPr>
            <a:r>
              <a:rPr lang="en-US" sz="1500" b="1" dirty="0">
                <a:solidFill>
                  <a:schemeClr val="bg1"/>
                </a:solidFill>
              </a:rPr>
              <a:t>Collector</a:t>
            </a:r>
            <a:endParaRPr lang="en-US" sz="1500" dirty="0"/>
          </a:p>
        </p:txBody>
      </p:sp>
      <p:sp>
        <p:nvSpPr>
          <p:cNvPr id="11" name="step-desc-2"/>
          <p:cNvSpPr txBox="1"/>
          <p:nvPr/>
        </p:nvSpPr>
        <p:spPr>
          <a:xfrm>
            <a:off x="3346704" y="2487168"/>
            <a:ext cx="1261872" cy="685800"/>
          </a:xfrm>
          <a:prstGeom prst="rect">
            <a:avLst/>
          </a:prstGeom>
          <a:noFill/>
          <a:ln/>
        </p:spPr>
        <p:txBody>
          <a:bodyPr wrap="square" lIns="0" tIns="0" rIns="0" bIns="0" rtlCol="0" anchor="t"/>
          <a:lstStyle/>
          <a:p>
            <a:pPr algn="ctr" indent="0" marL="0">
              <a:buNone/>
            </a:pPr>
            <a:r>
              <a:rPr lang="en-US" sz="1100" dirty="0">
                <a:solidFill>
                  <a:schemeClr val="tx1"/>
                </a:solidFill>
              </a:rPr>
              <a:t>billing · metrics · HCL</a:t>
            </a:r>
            <a:endParaRPr lang="en-US" sz="1100" dirty="0"/>
          </a:p>
        </p:txBody>
      </p:sp>
      <p:sp>
        <p:nvSpPr>
          <p:cNvPr id="12" name="step-3"/>
          <p:cNvSpPr/>
          <p:nvPr/>
        </p:nvSpPr>
        <p:spPr>
          <a:xfrm>
            <a:off x="4745736" y="1463040"/>
            <a:ext cx="1261872" cy="914400"/>
          </a:xfrm>
          <a:prstGeom prst="roundRect">
            <a:avLst>
              <a:gd name="adj" fmla="val 12000"/>
            </a:avLst>
          </a:prstGeom>
          <a:solidFill>
            <a:schemeClr val="accent4"/>
          </a:solidFill>
          <a:ln w="12700">
            <a:solidFill>
              <a:schemeClr val="accent4"/>
            </a:solidFill>
            <a:prstDash val="solid"/>
          </a:ln>
        </p:spPr>
      </p:sp>
      <p:sp>
        <p:nvSpPr>
          <p:cNvPr id="13" name="step-label-3"/>
          <p:cNvSpPr txBox="1"/>
          <p:nvPr/>
        </p:nvSpPr>
        <p:spPr>
          <a:xfrm>
            <a:off x="4791456" y="1463040"/>
            <a:ext cx="1170432" cy="914400"/>
          </a:xfrm>
          <a:prstGeom prst="rect">
            <a:avLst/>
          </a:prstGeom>
          <a:noFill/>
          <a:ln/>
        </p:spPr>
        <p:txBody>
          <a:bodyPr wrap="square" lIns="0" tIns="0" rIns="0" bIns="0" rtlCol="0" anchor="ctr"/>
          <a:lstStyle/>
          <a:p>
            <a:pPr algn="ctr" indent="0" marL="0">
              <a:buNone/>
            </a:pPr>
            <a:r>
              <a:rPr lang="en-US" sz="1500" b="1" dirty="0">
                <a:solidFill>
                  <a:schemeClr val="bg1"/>
                </a:solidFill>
              </a:rPr>
              <a:t>Quantifier</a:t>
            </a:r>
            <a:endParaRPr lang="en-US" sz="1500" dirty="0"/>
          </a:p>
        </p:txBody>
      </p:sp>
      <p:sp>
        <p:nvSpPr>
          <p:cNvPr id="14" name="step-desc-3"/>
          <p:cNvSpPr txBox="1"/>
          <p:nvPr/>
        </p:nvSpPr>
        <p:spPr>
          <a:xfrm>
            <a:off x="4745736" y="2487168"/>
            <a:ext cx="1261872" cy="685800"/>
          </a:xfrm>
          <a:prstGeom prst="rect">
            <a:avLst/>
          </a:prstGeom>
          <a:noFill/>
          <a:ln/>
        </p:spPr>
        <p:txBody>
          <a:bodyPr wrap="square" lIns="0" tIns="0" rIns="0" bIns="0" rtlCol="0" anchor="t"/>
          <a:lstStyle/>
          <a:p>
            <a:pPr algn="ctr" indent="0" marL="0">
              <a:buNone/>
            </a:pPr>
            <a:r>
              <a:rPr lang="en-US" sz="1100" dirty="0">
                <a:solidFill>
                  <a:schemeClr val="tx1"/>
                </a:solidFill>
              </a:rPr>
              <a:t>kWh · kgCO2e · provenance</a:t>
            </a:r>
            <a:endParaRPr lang="en-US" sz="1100" dirty="0"/>
          </a:p>
        </p:txBody>
      </p:sp>
      <p:sp>
        <p:nvSpPr>
          <p:cNvPr id="15" name="step-4"/>
          <p:cNvSpPr/>
          <p:nvPr/>
        </p:nvSpPr>
        <p:spPr>
          <a:xfrm>
            <a:off x="6144768" y="1463040"/>
            <a:ext cx="1261872" cy="914400"/>
          </a:xfrm>
          <a:prstGeom prst="roundRect">
            <a:avLst>
              <a:gd name="adj" fmla="val 12000"/>
            </a:avLst>
          </a:prstGeom>
          <a:solidFill>
            <a:schemeClr val="accent1"/>
          </a:solidFill>
          <a:ln w="12700">
            <a:solidFill>
              <a:schemeClr val="accent1"/>
            </a:solidFill>
            <a:prstDash val="solid"/>
          </a:ln>
        </p:spPr>
      </p:sp>
      <p:sp>
        <p:nvSpPr>
          <p:cNvPr id="16" name="step-label-4"/>
          <p:cNvSpPr txBox="1"/>
          <p:nvPr/>
        </p:nvSpPr>
        <p:spPr>
          <a:xfrm>
            <a:off x="6190488" y="1463040"/>
            <a:ext cx="1170432" cy="914400"/>
          </a:xfrm>
          <a:prstGeom prst="rect">
            <a:avLst/>
          </a:prstGeom>
          <a:noFill/>
          <a:ln/>
        </p:spPr>
        <p:txBody>
          <a:bodyPr wrap="square" lIns="0" tIns="0" rIns="0" bIns="0" rtlCol="0" anchor="ctr"/>
          <a:lstStyle/>
          <a:p>
            <a:pPr algn="ctr" indent="0" marL="0">
              <a:buNone/>
            </a:pPr>
            <a:r>
              <a:rPr lang="en-US" sz="1500" b="1" dirty="0">
                <a:solidFill>
                  <a:schemeClr val="bg1"/>
                </a:solidFill>
              </a:rPr>
              <a:t>Strategist</a:t>
            </a:r>
            <a:endParaRPr lang="en-US" sz="1500" dirty="0"/>
          </a:p>
        </p:txBody>
      </p:sp>
      <p:sp>
        <p:nvSpPr>
          <p:cNvPr id="17" name="step-desc-4"/>
          <p:cNvSpPr txBox="1"/>
          <p:nvPr/>
        </p:nvSpPr>
        <p:spPr>
          <a:xfrm>
            <a:off x="6144768" y="2487168"/>
            <a:ext cx="1261872" cy="685800"/>
          </a:xfrm>
          <a:prstGeom prst="rect">
            <a:avLst/>
          </a:prstGeom>
          <a:noFill/>
          <a:ln/>
        </p:spPr>
        <p:txBody>
          <a:bodyPr wrap="square" lIns="0" tIns="0" rIns="0" bIns="0" rtlCol="0" anchor="t"/>
          <a:lstStyle/>
          <a:p>
            <a:pPr algn="ctr" indent="0" marL="0">
              <a:buNone/>
            </a:pPr>
            <a:r>
              <a:rPr lang="en-US" sz="1100" dirty="0">
                <a:solidFill>
                  <a:schemeClr val="tx1"/>
                </a:solidFill>
              </a:rPr>
              <a:t>guardrails · carbon rank · choose option</a:t>
            </a:r>
            <a:endParaRPr lang="en-US" sz="1100" dirty="0"/>
          </a:p>
        </p:txBody>
      </p:sp>
      <p:sp>
        <p:nvSpPr>
          <p:cNvPr id="18" name="step-5"/>
          <p:cNvSpPr/>
          <p:nvPr/>
        </p:nvSpPr>
        <p:spPr>
          <a:xfrm>
            <a:off x="7543800" y="1463040"/>
            <a:ext cx="1261872" cy="914400"/>
          </a:xfrm>
          <a:prstGeom prst="roundRect">
            <a:avLst>
              <a:gd name="adj" fmla="val 12000"/>
            </a:avLst>
          </a:prstGeom>
          <a:solidFill>
            <a:schemeClr val="accent1"/>
          </a:solidFill>
          <a:ln w="12700">
            <a:solidFill>
              <a:schemeClr val="accent1"/>
            </a:solidFill>
            <a:prstDash val="solid"/>
          </a:ln>
        </p:spPr>
      </p:sp>
      <p:sp>
        <p:nvSpPr>
          <p:cNvPr id="19" name="step-label-5"/>
          <p:cNvSpPr txBox="1"/>
          <p:nvPr/>
        </p:nvSpPr>
        <p:spPr>
          <a:xfrm>
            <a:off x="7589520" y="1463040"/>
            <a:ext cx="1170432" cy="914400"/>
          </a:xfrm>
          <a:prstGeom prst="rect">
            <a:avLst/>
          </a:prstGeom>
          <a:noFill/>
          <a:ln/>
        </p:spPr>
        <p:txBody>
          <a:bodyPr wrap="square" lIns="0" tIns="0" rIns="0" bIns="0" rtlCol="0" anchor="ctr"/>
          <a:lstStyle/>
          <a:p>
            <a:pPr algn="ctr" indent="0" marL="0">
              <a:buNone/>
            </a:pPr>
            <a:r>
              <a:rPr lang="en-US" sz="1500" b="1" dirty="0">
                <a:solidFill>
                  <a:schemeClr val="bg1"/>
                </a:solidFill>
              </a:rPr>
              <a:t>Validator</a:t>
            </a:r>
            <a:endParaRPr lang="en-US" sz="1500" dirty="0"/>
          </a:p>
        </p:txBody>
      </p:sp>
      <p:sp>
        <p:nvSpPr>
          <p:cNvPr id="20" name="step-desc-5"/>
          <p:cNvSpPr txBox="1"/>
          <p:nvPr/>
        </p:nvSpPr>
        <p:spPr>
          <a:xfrm>
            <a:off x="7543800" y="2487168"/>
            <a:ext cx="1261872" cy="685800"/>
          </a:xfrm>
          <a:prstGeom prst="rect">
            <a:avLst/>
          </a:prstGeom>
          <a:noFill/>
          <a:ln/>
        </p:spPr>
        <p:txBody>
          <a:bodyPr wrap="square" lIns="0" tIns="0" rIns="0" bIns="0" rtlCol="0" anchor="t"/>
          <a:lstStyle/>
          <a:p>
            <a:pPr algn="ctr" indent="0" marL="0">
              <a:buNone/>
            </a:pPr>
            <a:r>
              <a:rPr lang="en-US" sz="1100" dirty="0">
                <a:solidFill>
                  <a:schemeClr val="tx1"/>
                </a:solidFill>
              </a:rPr>
              <a:t>render · tofu plan · repair ≤ 3</a:t>
            </a:r>
            <a:endParaRPr lang="en-US" sz="1100" dirty="0"/>
          </a:p>
        </p:txBody>
      </p:sp>
      <p:sp>
        <p:nvSpPr>
          <p:cNvPr id="21" name="step-6"/>
          <p:cNvSpPr/>
          <p:nvPr/>
        </p:nvSpPr>
        <p:spPr>
          <a:xfrm>
            <a:off x="8942832" y="1463040"/>
            <a:ext cx="1261872" cy="914400"/>
          </a:xfrm>
          <a:prstGeom prst="roundRect">
            <a:avLst>
              <a:gd name="adj" fmla="val 12000"/>
            </a:avLst>
          </a:prstGeom>
          <a:solidFill>
            <a:schemeClr val="accent4"/>
          </a:solidFill>
          <a:ln w="12700">
            <a:solidFill>
              <a:schemeClr val="accent4"/>
            </a:solidFill>
            <a:prstDash val="solid"/>
          </a:ln>
        </p:spPr>
      </p:sp>
      <p:sp>
        <p:nvSpPr>
          <p:cNvPr id="22" name="step-label-6"/>
          <p:cNvSpPr txBox="1"/>
          <p:nvPr/>
        </p:nvSpPr>
        <p:spPr>
          <a:xfrm>
            <a:off x="8988552" y="1463040"/>
            <a:ext cx="1170432" cy="914400"/>
          </a:xfrm>
          <a:prstGeom prst="rect">
            <a:avLst/>
          </a:prstGeom>
          <a:noFill/>
          <a:ln/>
        </p:spPr>
        <p:txBody>
          <a:bodyPr wrap="square" lIns="0" tIns="0" rIns="0" bIns="0" rtlCol="0" anchor="ctr"/>
          <a:lstStyle/>
          <a:p>
            <a:pPr algn="ctr" indent="0" marL="0">
              <a:buNone/>
            </a:pPr>
            <a:r>
              <a:rPr lang="en-US" sz="1500" b="1" dirty="0">
                <a:solidFill>
                  <a:schemeClr val="bg1"/>
                </a:solidFill>
              </a:rPr>
              <a:t>Reporter</a:t>
            </a:r>
            <a:endParaRPr lang="en-US" sz="1500" dirty="0"/>
          </a:p>
        </p:txBody>
      </p:sp>
      <p:sp>
        <p:nvSpPr>
          <p:cNvPr id="23" name="step-desc-6"/>
          <p:cNvSpPr txBox="1"/>
          <p:nvPr/>
        </p:nvSpPr>
        <p:spPr>
          <a:xfrm>
            <a:off x="8942832" y="2487168"/>
            <a:ext cx="1261872" cy="685800"/>
          </a:xfrm>
          <a:prstGeom prst="rect">
            <a:avLst/>
          </a:prstGeom>
          <a:noFill/>
          <a:ln/>
        </p:spPr>
        <p:txBody>
          <a:bodyPr wrap="square" lIns="0" tIns="0" rIns="0" bIns="0" rtlCol="0" anchor="t"/>
          <a:lstStyle/>
          <a:p>
            <a:pPr algn="ctr" indent="0" marL="0">
              <a:buNone/>
            </a:pPr>
            <a:r>
              <a:rPr lang="en-US" sz="1100" dirty="0">
                <a:solidFill>
                  <a:schemeClr val="tx1"/>
                </a:solidFill>
              </a:rPr>
              <a:t>PR draft · report · own footprint</a:t>
            </a:r>
            <a:endParaRPr lang="en-US" sz="1100" dirty="0"/>
          </a:p>
        </p:txBody>
      </p:sp>
      <p:sp>
        <p:nvSpPr>
          <p:cNvPr id="24" name="step-7"/>
          <p:cNvSpPr/>
          <p:nvPr/>
        </p:nvSpPr>
        <p:spPr>
          <a:xfrm>
            <a:off x="10341864" y="1463040"/>
            <a:ext cx="1261872" cy="914400"/>
          </a:xfrm>
          <a:prstGeom prst="roundRect">
            <a:avLst>
              <a:gd name="adj" fmla="val 12000"/>
            </a:avLst>
          </a:prstGeom>
          <a:solidFill>
            <a:schemeClr val="accent3"/>
          </a:solidFill>
          <a:ln w="12700">
            <a:solidFill>
              <a:schemeClr val="accent3"/>
            </a:solidFill>
            <a:prstDash val="solid"/>
          </a:ln>
        </p:spPr>
      </p:sp>
      <p:sp>
        <p:nvSpPr>
          <p:cNvPr id="25" name="step-label-7"/>
          <p:cNvSpPr txBox="1"/>
          <p:nvPr/>
        </p:nvSpPr>
        <p:spPr>
          <a:xfrm>
            <a:off x="10387584" y="1463040"/>
            <a:ext cx="1170432" cy="914400"/>
          </a:xfrm>
          <a:prstGeom prst="rect">
            <a:avLst/>
          </a:prstGeom>
          <a:noFill/>
          <a:ln/>
        </p:spPr>
        <p:txBody>
          <a:bodyPr wrap="square" lIns="0" tIns="0" rIns="0" bIns="0" rtlCol="0" anchor="ctr"/>
          <a:lstStyle/>
          <a:p>
            <a:pPr algn="ctr" indent="0" marL="0">
              <a:buNone/>
            </a:pPr>
            <a:r>
              <a:rPr lang="en-US" sz="1500" b="1" dirty="0">
                <a:solidFill>
                  <a:schemeClr val="bg1"/>
                </a:solidFill>
              </a:rPr>
              <a:t>Gate 2</a:t>
            </a:r>
            <a:endParaRPr lang="en-US" sz="1500" dirty="0"/>
          </a:p>
        </p:txBody>
      </p:sp>
      <p:sp>
        <p:nvSpPr>
          <p:cNvPr id="26" name="step-desc-7"/>
          <p:cNvSpPr txBox="1"/>
          <p:nvPr/>
        </p:nvSpPr>
        <p:spPr>
          <a:xfrm>
            <a:off x="10341864" y="2487168"/>
            <a:ext cx="1261872" cy="685800"/>
          </a:xfrm>
          <a:prstGeom prst="rect">
            <a:avLst/>
          </a:prstGeom>
          <a:noFill/>
          <a:ln/>
        </p:spPr>
        <p:txBody>
          <a:bodyPr wrap="square" lIns="0" tIns="0" rIns="0" bIns="0" rtlCol="0" anchor="t"/>
          <a:lstStyle/>
          <a:p>
            <a:pPr algn="ctr" indent="0" marL="0">
              <a:buNone/>
            </a:pPr>
            <a:r>
              <a:rPr lang="en-US" sz="1100" dirty="0">
                <a:solidFill>
                  <a:schemeClr val="tx1"/>
                </a:solidFill>
              </a:rPr>
              <a:t>merge or reject</a:t>
            </a:r>
            <a:endParaRPr lang="en-US" sz="1100" dirty="0"/>
          </a:p>
        </p:txBody>
      </p:sp>
      <p:sp>
        <p:nvSpPr>
          <p:cNvPr id="27" name="legend-sw-0"/>
          <p:cNvSpPr/>
          <p:nvPr/>
        </p:nvSpPr>
        <p:spPr>
          <a:xfrm>
            <a:off x="548640" y="3383280"/>
            <a:ext cx="274320" cy="274320"/>
          </a:xfrm>
          <a:prstGeom prst="roundRect">
            <a:avLst>
              <a:gd name="adj" fmla="val 16667"/>
            </a:avLst>
          </a:prstGeom>
          <a:solidFill>
            <a:schemeClr val="accent3"/>
          </a:solidFill>
          <a:ln w="12700">
            <a:solidFill>
              <a:schemeClr val="accent3"/>
            </a:solidFill>
            <a:prstDash val="solid"/>
          </a:ln>
        </p:spPr>
      </p:sp>
      <p:sp>
        <p:nvSpPr>
          <p:cNvPr id="28" name="legend-t-0"/>
          <p:cNvSpPr txBox="1"/>
          <p:nvPr/>
        </p:nvSpPr>
        <p:spPr>
          <a:xfrm>
            <a:off x="932688" y="3364992"/>
            <a:ext cx="2468880" cy="320040"/>
          </a:xfrm>
          <a:prstGeom prst="rect">
            <a:avLst/>
          </a:prstGeom>
          <a:noFill/>
          <a:ln/>
        </p:spPr>
        <p:txBody>
          <a:bodyPr wrap="square" lIns="0" tIns="0" rIns="0" bIns="0" rtlCol="0" anchor="ctr"/>
          <a:lstStyle/>
          <a:p>
            <a:pPr indent="0" marL="0">
              <a:buNone/>
            </a:pPr>
            <a:r>
              <a:rPr lang="en-US" sz="1300" dirty="0">
                <a:solidFill>
                  <a:schemeClr val="tx1"/>
                </a:solidFill>
              </a:rPr>
              <a:t>Human decision</a:t>
            </a:r>
            <a:endParaRPr lang="en-US" sz="1300" dirty="0"/>
          </a:p>
        </p:txBody>
      </p:sp>
      <p:sp>
        <p:nvSpPr>
          <p:cNvPr id="29" name="legend-sw-1"/>
          <p:cNvSpPr/>
          <p:nvPr/>
        </p:nvSpPr>
        <p:spPr>
          <a:xfrm>
            <a:off x="3474720" y="3383280"/>
            <a:ext cx="274320" cy="274320"/>
          </a:xfrm>
          <a:prstGeom prst="roundRect">
            <a:avLst>
              <a:gd name="adj" fmla="val 16667"/>
            </a:avLst>
          </a:prstGeom>
          <a:solidFill>
            <a:schemeClr val="accent4"/>
          </a:solidFill>
          <a:ln w="12700">
            <a:solidFill>
              <a:schemeClr val="accent4"/>
            </a:solidFill>
            <a:prstDash val="solid"/>
          </a:ln>
        </p:spPr>
      </p:sp>
      <p:sp>
        <p:nvSpPr>
          <p:cNvPr id="30" name="legend-t-1"/>
          <p:cNvSpPr txBox="1"/>
          <p:nvPr/>
        </p:nvSpPr>
        <p:spPr>
          <a:xfrm>
            <a:off x="3858768" y="3364992"/>
            <a:ext cx="2468880" cy="320040"/>
          </a:xfrm>
          <a:prstGeom prst="rect">
            <a:avLst/>
          </a:prstGeom>
          <a:noFill/>
          <a:ln/>
        </p:spPr>
        <p:txBody>
          <a:bodyPr wrap="square" lIns="0" tIns="0" rIns="0" bIns="0" rtlCol="0" anchor="ctr"/>
          <a:lstStyle/>
          <a:p>
            <a:pPr indent="0" marL="0">
              <a:buNone/>
            </a:pPr>
            <a:r>
              <a:rPr lang="en-US" sz="1300" dirty="0">
                <a:solidFill>
                  <a:schemeClr val="tx1"/>
                </a:solidFill>
              </a:rPr>
              <a:t>Deterministic code</a:t>
            </a:r>
            <a:endParaRPr lang="en-US" sz="1300" dirty="0"/>
          </a:p>
        </p:txBody>
      </p:sp>
      <p:sp>
        <p:nvSpPr>
          <p:cNvPr id="31" name="legend-sw-2"/>
          <p:cNvSpPr/>
          <p:nvPr/>
        </p:nvSpPr>
        <p:spPr>
          <a:xfrm>
            <a:off x="6400800" y="3383280"/>
            <a:ext cx="274320" cy="274320"/>
          </a:xfrm>
          <a:prstGeom prst="roundRect">
            <a:avLst>
              <a:gd name="adj" fmla="val 16667"/>
            </a:avLst>
          </a:prstGeom>
          <a:solidFill>
            <a:schemeClr val="accent1"/>
          </a:solidFill>
          <a:ln w="12700">
            <a:solidFill>
              <a:schemeClr val="accent1"/>
            </a:solidFill>
            <a:prstDash val="solid"/>
          </a:ln>
        </p:spPr>
      </p:sp>
      <p:sp>
        <p:nvSpPr>
          <p:cNvPr id="32" name="legend-t-2"/>
          <p:cNvSpPr txBox="1"/>
          <p:nvPr/>
        </p:nvSpPr>
        <p:spPr>
          <a:xfrm>
            <a:off x="6784848" y="3364992"/>
            <a:ext cx="2468880" cy="320040"/>
          </a:xfrm>
          <a:prstGeom prst="rect">
            <a:avLst/>
          </a:prstGeom>
          <a:noFill/>
          <a:ln/>
        </p:spPr>
        <p:txBody>
          <a:bodyPr wrap="square" lIns="0" tIns="0" rIns="0" bIns="0" rtlCol="0" anchor="ctr"/>
          <a:lstStyle/>
          <a:p>
            <a:pPr indent="0" marL="0">
              <a:buNone/>
            </a:pPr>
            <a:r>
              <a:rPr lang="en-US" sz="1300" dirty="0">
                <a:solidFill>
                  <a:schemeClr val="tx1"/>
                </a:solidFill>
              </a:rPr>
              <a:t>LLM within allowed options</a:t>
            </a:r>
            <a:endParaRPr lang="en-US" sz="1300" dirty="0"/>
          </a:p>
        </p:txBody>
      </p:sp>
      <p:sp>
        <p:nvSpPr>
          <p:cNvPr id="33" name="tb-det"/>
          <p:cNvSpPr/>
          <p:nvPr/>
        </p:nvSpPr>
        <p:spPr>
          <a:xfrm>
            <a:off x="548640" y="3977640"/>
            <a:ext cx="5394960" cy="2194560"/>
          </a:xfrm>
          <a:prstGeom prst="roundRect">
            <a:avLst>
              <a:gd name="adj" fmla="val 5000"/>
            </a:avLst>
          </a:prstGeom>
          <a:solidFill>
            <a:schemeClr val="bg2"/>
          </a:solidFill>
          <a:ln w="12700">
            <a:solidFill>
              <a:schemeClr val="bg2"/>
            </a:solidFill>
            <a:prstDash val="solid"/>
          </a:ln>
        </p:spPr>
      </p:sp>
      <p:sp>
        <p:nvSpPr>
          <p:cNvPr id="34" name="tb-det-text"/>
          <p:cNvSpPr txBox="1"/>
          <p:nvPr/>
        </p:nvSpPr>
        <p:spPr>
          <a:xfrm>
            <a:off x="777240" y="4160520"/>
            <a:ext cx="4937760" cy="1828800"/>
          </a:xfrm>
          <a:prstGeom prst="rect">
            <a:avLst/>
          </a:prstGeom>
          <a:noFill/>
          <a:ln/>
        </p:spPr>
        <p:txBody>
          <a:bodyPr wrap="square" lIns="0" tIns="0" rIns="0" bIns="0" rtlCol="0" anchor="t"/>
          <a:lstStyle/>
          <a:p>
            <a:pPr indent="0" marL="0">
              <a:spcAft>
                <a:spcPts val="600"/>
              </a:spcAft>
              <a:buNone/>
            </a:pPr>
            <a:r>
              <a:rPr lang="en-US" sz="1700" b="1" dirty="0">
                <a:solidFill>
                  <a:schemeClr val="accent4"/>
                </a:solidFill>
              </a:rPr>
              <a:t>Deterministic core — every published number</a:t>
            </a:r>
            <a:endParaRPr lang="en-US" sz="1700" dirty="0"/>
          </a:p>
          <a:p>
            <a:pPr indent="0" marL="0">
              <a:spcAft>
                <a:spcPts val="600"/>
              </a:spcAft>
              <a:buNone/>
            </a:pPr>
            <a:r>
              <a:rPr lang="en-US" sz="1400" dirty="0">
                <a:solidFill>
                  <a:schemeClr val="tx1"/>
                </a:solidFill>
              </a:rPr>
              <a:t>Energy model, vendored factors, policy, ranking, patch templates, ledger, SCI.</a:t>
            </a:r>
            <a:endParaRPr lang="en-US" sz="1700" dirty="0"/>
          </a:p>
          <a:p>
            <a:pPr indent="0" marL="0">
              <a:spcAft>
                <a:spcPts val="600"/>
              </a:spcAft>
              <a:buNone/>
            </a:pPr>
            <a:r>
              <a:rPr lang="en-US" sz="1400" dirty="0">
                <a:solidFill>
                  <a:schemeClr val="tx1"/>
                </a:solidFill>
              </a:rPr>
              <a:t>It cannot import the LLM package — a test fails the build if it does.</a:t>
            </a:r>
            <a:endParaRPr lang="en-US" sz="1700" dirty="0"/>
          </a:p>
        </p:txBody>
      </p:sp>
      <p:sp>
        <p:nvSpPr>
          <p:cNvPr id="35" name="tb-llm"/>
          <p:cNvSpPr/>
          <p:nvPr/>
        </p:nvSpPr>
        <p:spPr>
          <a:xfrm>
            <a:off x="6217920" y="3977640"/>
            <a:ext cx="5394960" cy="2194560"/>
          </a:xfrm>
          <a:prstGeom prst="roundRect">
            <a:avLst>
              <a:gd name="adj" fmla="val 5000"/>
            </a:avLst>
          </a:prstGeom>
          <a:solidFill>
            <a:schemeClr val="bg2"/>
          </a:solidFill>
          <a:ln w="12700">
            <a:solidFill>
              <a:schemeClr val="bg2"/>
            </a:solidFill>
            <a:prstDash val="solid"/>
          </a:ln>
        </p:spPr>
      </p:sp>
      <p:sp>
        <p:nvSpPr>
          <p:cNvPr id="36" name="tb-llm-text"/>
          <p:cNvSpPr txBox="1"/>
          <p:nvPr/>
        </p:nvSpPr>
        <p:spPr>
          <a:xfrm>
            <a:off x="6446520" y="4160520"/>
            <a:ext cx="4937760" cy="1828800"/>
          </a:xfrm>
          <a:prstGeom prst="rect">
            <a:avLst/>
          </a:prstGeom>
          <a:noFill/>
          <a:ln/>
        </p:spPr>
        <p:txBody>
          <a:bodyPr wrap="square" lIns="0" tIns="0" rIns="0" bIns="0" rtlCol="0" anchor="t"/>
          <a:lstStyle/>
          <a:p>
            <a:pPr indent="0" marL="0">
              <a:spcAft>
                <a:spcPts val="600"/>
              </a:spcAft>
              <a:buNone/>
            </a:pPr>
            <a:r>
              <a:rPr lang="en-US" sz="1700" b="1" dirty="0">
                <a:solidFill>
                  <a:schemeClr val="accent1"/>
                </a:solidFill>
              </a:rPr>
              <a:t>LLM perimeter — choices and prose only</a:t>
            </a:r>
            <a:endParaRPr lang="en-US" sz="1700" dirty="0"/>
          </a:p>
          <a:p>
            <a:pPr indent="0" marL="0">
              <a:spcAft>
                <a:spcPts val="600"/>
              </a:spcAft>
              <a:buNone/>
            </a:pPr>
            <a:r>
              <a:rPr lang="en-US" sz="1400" dirty="0">
                <a:solidFill>
                  <a:schemeClr val="tx1"/>
                </a:solidFill>
              </a:rPr>
              <a:t>Local gpt-oss-20b picks among options the code allows, repairs a failed plan, writes the narrative.</a:t>
            </a:r>
            <a:endParaRPr lang="en-US" sz="1700" dirty="0"/>
          </a:p>
          <a:p>
            <a:pPr indent="0" marL="0">
              <a:spcAft>
                <a:spcPts val="600"/>
              </a:spcAft>
              <a:buNone/>
            </a:pPr>
            <a:r>
              <a:rPr lang="en-US" sz="1400" dirty="0">
                <a:solidFill>
                  <a:schemeClr val="tx1"/>
                </a:solidFill>
              </a:rPr>
              <a:t>Schema-validated JSON with no numeric fields; one re-ask, then the rule-based default.</a:t>
            </a:r>
            <a:endParaRPr lang="en-US" sz="17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67"/>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Humans decide: the agent informs, proposes and waits</a:t>
            </a:r>
            <a:endParaRPr lang="en-US" sz="3200" dirty="0"/>
          </a:p>
        </p:txBody>
      </p:sp>
      <p:sp>
        <p:nvSpPr>
          <p:cNvPr id="3" name="can-bg-0"/>
          <p:cNvSpPr/>
          <p:nvPr/>
        </p:nvSpPr>
        <p:spPr>
          <a:xfrm>
            <a:off x="548640" y="1371600"/>
            <a:ext cx="685800" cy="685800"/>
          </a:xfrm>
          <a:prstGeom prst="ellipse">
            <a:avLst/>
          </a:prstGeom>
          <a:solidFill>
            <a:schemeClr val="bg2"/>
          </a:solidFill>
          <a:ln w="12700">
            <a:solidFill>
              <a:schemeClr val="bg2"/>
            </a:solidFill>
            <a:prstDash val="solid"/>
          </a:ln>
        </p:spPr>
      </p:sp>
      <p:pic>
        <p:nvPicPr>
          <p:cNvPr id="4" name="can-icon-0" descr="preencoded.png">    </p:cNvPr>
          <p:cNvPicPr>
            <a:picLocks noChangeAspect="1"/>
          </p:cNvPicPr>
          <p:nvPr/>
        </p:nvPicPr>
        <p:blipFill>
          <a:blip r:embed="rId1"/>
          <a:stretch>
            <a:fillRect/>
          </a:stretch>
        </p:blipFill>
        <p:spPr>
          <a:xfrm>
            <a:off x="722376" y="1545336"/>
            <a:ext cx="338328" cy="338328"/>
          </a:xfrm>
          <a:prstGeom prst="rect">
            <a:avLst/>
          </a:prstGeom>
        </p:spPr>
      </p:pic>
      <p:sp>
        <p:nvSpPr>
          <p:cNvPr id="5" name="can-h-0"/>
          <p:cNvSpPr txBox="1"/>
          <p:nvPr/>
        </p:nvSpPr>
        <p:spPr>
          <a:xfrm>
            <a:off x="1463040" y="1353312"/>
            <a:ext cx="4846320" cy="365760"/>
          </a:xfrm>
          <a:prstGeom prst="rect">
            <a:avLst/>
          </a:prstGeom>
          <a:noFill/>
          <a:ln/>
        </p:spPr>
        <p:txBody>
          <a:bodyPr wrap="square" lIns="0" tIns="0" rIns="0" bIns="0" rtlCol="0" anchor="t"/>
          <a:lstStyle/>
          <a:p>
            <a:pPr indent="0" marL="0">
              <a:buNone/>
            </a:pPr>
            <a:r>
              <a:rPr lang="en-US" sz="1800" b="1" dirty="0">
                <a:solidFill>
                  <a:schemeClr val="tx2"/>
                </a:solidFill>
              </a:rPr>
              <a:t>Cannot apply, destroy or touch AWS</a:t>
            </a:r>
            <a:endParaRPr lang="en-US" sz="1800" dirty="0"/>
          </a:p>
        </p:txBody>
      </p:sp>
      <p:sp>
        <p:nvSpPr>
          <p:cNvPr id="6" name="can-b-0"/>
          <p:cNvSpPr txBox="1"/>
          <p:nvPr/>
        </p:nvSpPr>
        <p:spPr>
          <a:xfrm>
            <a:off x="1463040" y="1719072"/>
            <a:ext cx="4846320" cy="548640"/>
          </a:xfrm>
          <a:prstGeom prst="rect">
            <a:avLst/>
          </a:prstGeom>
          <a:noFill/>
          <a:ln/>
        </p:spPr>
        <p:txBody>
          <a:bodyPr wrap="square" lIns="0" tIns="0" rIns="0" bIns="0" rtlCol="0" anchor="t"/>
          <a:lstStyle/>
          <a:p>
            <a:pPr indent="0" marL="0">
              <a:buNone/>
            </a:pPr>
            <a:r>
              <a:rPr lang="en-US" sz="1400" dirty="0">
                <a:solidFill>
                  <a:schemeClr val="tx1"/>
                </a:solidFill>
              </a:rPr>
              <a:t>no apply path in the code; plans run with dummy credentials</a:t>
            </a:r>
            <a:endParaRPr lang="en-US" sz="1400" dirty="0"/>
          </a:p>
        </p:txBody>
      </p:sp>
      <p:sp>
        <p:nvSpPr>
          <p:cNvPr id="7" name="can-bg-1"/>
          <p:cNvSpPr/>
          <p:nvPr/>
        </p:nvSpPr>
        <p:spPr>
          <a:xfrm>
            <a:off x="548640" y="2560320"/>
            <a:ext cx="685800" cy="685800"/>
          </a:xfrm>
          <a:prstGeom prst="ellipse">
            <a:avLst/>
          </a:prstGeom>
          <a:solidFill>
            <a:schemeClr val="bg2"/>
          </a:solidFill>
          <a:ln w="12700">
            <a:solidFill>
              <a:schemeClr val="bg2"/>
            </a:solidFill>
            <a:prstDash val="solid"/>
          </a:ln>
        </p:spPr>
      </p:sp>
      <p:pic>
        <p:nvPicPr>
          <p:cNvPr id="8" name="can-icon-1" descr="preencoded.png">    </p:cNvPr>
          <p:cNvPicPr>
            <a:picLocks noChangeAspect="1"/>
          </p:cNvPicPr>
          <p:nvPr/>
        </p:nvPicPr>
        <p:blipFill>
          <a:blip r:embed="rId2"/>
          <a:stretch>
            <a:fillRect/>
          </a:stretch>
        </p:blipFill>
        <p:spPr>
          <a:xfrm>
            <a:off x="722376" y="2734056"/>
            <a:ext cx="338328" cy="338328"/>
          </a:xfrm>
          <a:prstGeom prst="rect">
            <a:avLst/>
          </a:prstGeom>
        </p:spPr>
      </p:pic>
      <p:sp>
        <p:nvSpPr>
          <p:cNvPr id="9" name="can-h-1"/>
          <p:cNvSpPr txBox="1"/>
          <p:nvPr/>
        </p:nvSpPr>
        <p:spPr>
          <a:xfrm>
            <a:off x="1463040" y="2542032"/>
            <a:ext cx="4846320" cy="365760"/>
          </a:xfrm>
          <a:prstGeom prst="rect">
            <a:avLst/>
          </a:prstGeom>
          <a:noFill/>
          <a:ln/>
        </p:spPr>
        <p:txBody>
          <a:bodyPr wrap="square" lIns="0" tIns="0" rIns="0" bIns="0" rtlCol="0" anchor="t"/>
          <a:lstStyle/>
          <a:p>
            <a:pPr indent="0" marL="0">
              <a:buNone/>
            </a:pPr>
            <a:r>
              <a:rPr lang="en-US" sz="1800" b="1" dirty="0">
                <a:solidFill>
                  <a:schemeClr val="tx2"/>
                </a:solidFill>
              </a:rPr>
              <a:t>Cannot start itself</a:t>
            </a:r>
            <a:endParaRPr lang="en-US" sz="1800" dirty="0"/>
          </a:p>
        </p:txBody>
      </p:sp>
      <p:sp>
        <p:nvSpPr>
          <p:cNvPr id="10" name="can-b-1"/>
          <p:cNvSpPr txBox="1"/>
          <p:nvPr/>
        </p:nvSpPr>
        <p:spPr>
          <a:xfrm>
            <a:off x="1463040" y="2907792"/>
            <a:ext cx="4846320" cy="548640"/>
          </a:xfrm>
          <a:prstGeom prst="rect">
            <a:avLst/>
          </a:prstGeom>
          <a:noFill/>
          <a:ln/>
        </p:spPr>
        <p:txBody>
          <a:bodyPr wrap="square" lIns="0" tIns="0" rIns="0" bIns="0" rtlCol="0" anchor="t"/>
          <a:lstStyle/>
          <a:p>
            <a:pPr indent="0" marL="0">
              <a:buNone/>
            </a:pPr>
            <a:r>
              <a:rPr lang="en-US" sz="1400" dirty="0">
                <a:solidFill>
                  <a:schemeClr val="tx1"/>
                </a:solidFill>
              </a:rPr>
              <a:t>Gate 1: a human approves scope and budget; recorded in the ledger</a:t>
            </a:r>
            <a:endParaRPr lang="en-US" sz="1400" dirty="0"/>
          </a:p>
        </p:txBody>
      </p:sp>
      <p:sp>
        <p:nvSpPr>
          <p:cNvPr id="11" name="can-bg-2"/>
          <p:cNvSpPr/>
          <p:nvPr/>
        </p:nvSpPr>
        <p:spPr>
          <a:xfrm>
            <a:off x="548640" y="3749040"/>
            <a:ext cx="685800" cy="685800"/>
          </a:xfrm>
          <a:prstGeom prst="ellipse">
            <a:avLst/>
          </a:prstGeom>
          <a:solidFill>
            <a:schemeClr val="bg2"/>
          </a:solidFill>
          <a:ln w="12700">
            <a:solidFill>
              <a:schemeClr val="bg2"/>
            </a:solidFill>
            <a:prstDash val="solid"/>
          </a:ln>
        </p:spPr>
      </p:sp>
      <p:pic>
        <p:nvPicPr>
          <p:cNvPr id="12" name="can-icon-2" descr="preencoded.png">    </p:cNvPr>
          <p:cNvPicPr>
            <a:picLocks noChangeAspect="1"/>
          </p:cNvPicPr>
          <p:nvPr/>
        </p:nvPicPr>
        <p:blipFill>
          <a:blip r:embed="rId3"/>
          <a:stretch>
            <a:fillRect/>
          </a:stretch>
        </p:blipFill>
        <p:spPr>
          <a:xfrm>
            <a:off x="722376" y="3922776"/>
            <a:ext cx="338328" cy="338328"/>
          </a:xfrm>
          <a:prstGeom prst="rect">
            <a:avLst/>
          </a:prstGeom>
        </p:spPr>
      </p:pic>
      <p:sp>
        <p:nvSpPr>
          <p:cNvPr id="13" name="can-h-2"/>
          <p:cNvSpPr txBox="1"/>
          <p:nvPr/>
        </p:nvSpPr>
        <p:spPr>
          <a:xfrm>
            <a:off x="1463040" y="3730752"/>
            <a:ext cx="4846320" cy="365760"/>
          </a:xfrm>
          <a:prstGeom prst="rect">
            <a:avLst/>
          </a:prstGeom>
          <a:noFill/>
          <a:ln/>
        </p:spPr>
        <p:txBody>
          <a:bodyPr wrap="square" lIns="0" tIns="0" rIns="0" bIns="0" rtlCol="0" anchor="t"/>
          <a:lstStyle/>
          <a:p>
            <a:pPr indent="0" marL="0">
              <a:buNone/>
            </a:pPr>
            <a:r>
              <a:rPr lang="en-US" sz="1800" b="1" dirty="0">
                <a:solidFill>
                  <a:schemeClr val="tx2"/>
                </a:solidFill>
              </a:rPr>
              <a:t>Cannot merge</a:t>
            </a:r>
            <a:endParaRPr lang="en-US" sz="1800" dirty="0"/>
          </a:p>
        </p:txBody>
      </p:sp>
      <p:sp>
        <p:nvSpPr>
          <p:cNvPr id="14" name="can-b-2"/>
          <p:cNvSpPr txBox="1"/>
          <p:nvPr/>
        </p:nvSpPr>
        <p:spPr>
          <a:xfrm>
            <a:off x="1463040" y="4096512"/>
            <a:ext cx="4846320" cy="548640"/>
          </a:xfrm>
          <a:prstGeom prst="rect">
            <a:avLst/>
          </a:prstGeom>
          <a:noFill/>
          <a:ln/>
        </p:spPr>
        <p:txBody>
          <a:bodyPr wrap="square" lIns="0" tIns="0" rIns="0" bIns="0" rtlCol="0" anchor="t"/>
          <a:lstStyle/>
          <a:p>
            <a:pPr indent="0" marL="0">
              <a:buNone/>
            </a:pPr>
            <a:r>
              <a:rPr lang="en-US" sz="1400" dirty="0">
                <a:solidFill>
                  <a:schemeClr val="tx1"/>
                </a:solidFill>
              </a:rPr>
              <a:t>every change is a pull request; Gate 2 is a human review</a:t>
            </a:r>
            <a:endParaRPr lang="en-US" sz="1400" dirty="0"/>
          </a:p>
        </p:txBody>
      </p:sp>
      <p:sp>
        <p:nvSpPr>
          <p:cNvPr id="15" name="can-bg-3"/>
          <p:cNvSpPr/>
          <p:nvPr/>
        </p:nvSpPr>
        <p:spPr>
          <a:xfrm>
            <a:off x="548640" y="4937760"/>
            <a:ext cx="685800" cy="685800"/>
          </a:xfrm>
          <a:prstGeom prst="ellipse">
            <a:avLst/>
          </a:prstGeom>
          <a:solidFill>
            <a:schemeClr val="bg2"/>
          </a:solidFill>
          <a:ln w="12700">
            <a:solidFill>
              <a:schemeClr val="bg2"/>
            </a:solidFill>
            <a:prstDash val="solid"/>
          </a:ln>
        </p:spPr>
      </p:sp>
      <p:pic>
        <p:nvPicPr>
          <p:cNvPr id="16" name="can-icon-3" descr="preencoded.png">    </p:cNvPr>
          <p:cNvPicPr>
            <a:picLocks noChangeAspect="1"/>
          </p:cNvPicPr>
          <p:nvPr/>
        </p:nvPicPr>
        <p:blipFill>
          <a:blip r:embed="rId4"/>
          <a:stretch>
            <a:fillRect/>
          </a:stretch>
        </p:blipFill>
        <p:spPr>
          <a:xfrm>
            <a:off x="722376" y="5111496"/>
            <a:ext cx="338328" cy="338328"/>
          </a:xfrm>
          <a:prstGeom prst="rect">
            <a:avLst/>
          </a:prstGeom>
        </p:spPr>
      </p:pic>
      <p:sp>
        <p:nvSpPr>
          <p:cNvPr id="17" name="can-h-3"/>
          <p:cNvSpPr txBox="1"/>
          <p:nvPr/>
        </p:nvSpPr>
        <p:spPr>
          <a:xfrm>
            <a:off x="1463040" y="4919472"/>
            <a:ext cx="4846320" cy="365760"/>
          </a:xfrm>
          <a:prstGeom prst="rect">
            <a:avLst/>
          </a:prstGeom>
          <a:noFill/>
          <a:ln/>
        </p:spPr>
        <p:txBody>
          <a:bodyPr wrap="square" lIns="0" tIns="0" rIns="0" bIns="0" rtlCol="0" anchor="t"/>
          <a:lstStyle/>
          <a:p>
            <a:pPr indent="0" marL="0">
              <a:buNone/>
            </a:pPr>
            <a:r>
              <a:rPr lang="en-US" sz="1800" b="1" dirty="0">
                <a:solidFill>
                  <a:schemeClr val="tx2"/>
                </a:solidFill>
              </a:rPr>
              <a:t>Refuses protected resources</a:t>
            </a:r>
            <a:endParaRPr lang="en-US" sz="1800" dirty="0"/>
          </a:p>
        </p:txBody>
      </p:sp>
      <p:sp>
        <p:nvSpPr>
          <p:cNvPr id="18" name="can-b-3"/>
          <p:cNvSpPr txBox="1"/>
          <p:nvPr/>
        </p:nvSpPr>
        <p:spPr>
          <a:xfrm>
            <a:off x="1463040" y="5285232"/>
            <a:ext cx="4846320" cy="548640"/>
          </a:xfrm>
          <a:prstGeom prst="rect">
            <a:avLst/>
          </a:prstGeom>
          <a:noFill/>
          <a:ln/>
        </p:spPr>
        <p:txBody>
          <a:bodyPr wrap="square" lIns="0" tIns="0" rIns="0" bIns="0" rtlCol="0" anchor="t"/>
          <a:lstStyle/>
          <a:p>
            <a:pPr indent="0" marL="0">
              <a:buNone/>
            </a:pPr>
            <a:r>
              <a:rPr lang="en-US" sz="1400" dirty="0">
                <a:solidFill>
                  <a:schemeClr val="tx1"/>
                </a:solidFill>
              </a:rPr>
              <a:t>DR, month-end and regulatory traps are blocked before any decision</a:t>
            </a:r>
            <a:endParaRPr lang="en-US" sz="1400" dirty="0"/>
          </a:p>
        </p:txBody>
      </p:sp>
      <p:sp>
        <p:nvSpPr>
          <p:cNvPr id="19" name="ack-card"/>
          <p:cNvSpPr/>
          <p:nvPr/>
        </p:nvSpPr>
        <p:spPr>
          <a:xfrm>
            <a:off x="6675120" y="1371600"/>
            <a:ext cx="4937760" cy="4754880"/>
          </a:xfrm>
          <a:prstGeom prst="roundRect">
            <a:avLst>
              <a:gd name="adj" fmla="val 2308"/>
            </a:avLst>
          </a:prstGeom>
          <a:solidFill>
            <a:schemeClr val="bg2"/>
          </a:solidFill>
          <a:ln w="12700">
            <a:solidFill>
              <a:schemeClr val="bg2"/>
            </a:solidFill>
            <a:prstDash val="solid"/>
          </a:ln>
        </p:spPr>
      </p:sp>
      <p:sp>
        <p:nvSpPr>
          <p:cNvPr id="20" name="ack-title"/>
          <p:cNvSpPr txBox="1"/>
          <p:nvPr/>
        </p:nvSpPr>
        <p:spPr>
          <a:xfrm>
            <a:off x="6949440" y="1554480"/>
            <a:ext cx="4389120" cy="685800"/>
          </a:xfrm>
          <a:prstGeom prst="rect">
            <a:avLst/>
          </a:prstGeom>
          <a:noFill/>
          <a:ln/>
        </p:spPr>
        <p:txBody>
          <a:bodyPr wrap="square" lIns="0" tIns="0" rIns="0" bIns="0" rtlCol="0" anchor="t"/>
          <a:lstStyle/>
          <a:p>
            <a:pPr indent="0" marL="0">
              <a:buNone/>
            </a:pPr>
            <a:r>
              <a:rPr lang="en-US" sz="1700" b="1" dirty="0">
                <a:solidFill>
                  <a:schemeClr val="tx2"/>
                </a:solidFill>
              </a:rPr>
              <a:t>Above 100 kgCO2e/yr the PR check fails until a human acts</a:t>
            </a:r>
            <a:endParaRPr lang="en-US" sz="1700" dirty="0"/>
          </a:p>
        </p:txBody>
      </p:sp>
      <p:sp>
        <p:nvSpPr>
          <p:cNvPr id="21" name="ack-dot-0"/>
          <p:cNvSpPr/>
          <p:nvPr/>
        </p:nvSpPr>
        <p:spPr>
          <a:xfrm>
            <a:off x="6949440" y="2468880"/>
            <a:ext cx="256032" cy="256032"/>
          </a:xfrm>
          <a:prstGeom prst="ellipse">
            <a:avLst/>
          </a:prstGeom>
          <a:solidFill>
            <a:schemeClr val="accent1"/>
          </a:solidFill>
          <a:ln w="12700">
            <a:solidFill>
              <a:schemeClr val="accent1"/>
            </a:solidFill>
            <a:prstDash val="solid"/>
          </a:ln>
        </p:spPr>
      </p:sp>
      <p:sp>
        <p:nvSpPr>
          <p:cNvPr id="22" name="ack-h-0"/>
          <p:cNvSpPr txBox="1"/>
          <p:nvPr/>
        </p:nvSpPr>
        <p:spPr>
          <a:xfrm>
            <a:off x="7360920" y="2423160"/>
            <a:ext cx="4023360" cy="347472"/>
          </a:xfrm>
          <a:prstGeom prst="rect">
            <a:avLst/>
          </a:prstGeom>
          <a:noFill/>
          <a:ln/>
        </p:spPr>
        <p:txBody>
          <a:bodyPr wrap="square" lIns="0" tIns="0" rIns="0" bIns="0" rtlCol="0" anchor="t"/>
          <a:lstStyle/>
          <a:p>
            <a:pPr indent="0" marL="0">
              <a:buNone/>
            </a:pPr>
            <a:r>
              <a:rPr lang="en-US" sz="1600" b="1" dirty="0">
                <a:solidFill>
                  <a:schemeClr val="tx1"/>
                </a:solidFill>
              </a:rPr>
              <a:t>Commit a suggestion</a:t>
            </a:r>
            <a:endParaRPr lang="en-US" sz="1600" dirty="0"/>
          </a:p>
        </p:txBody>
      </p:sp>
      <p:sp>
        <p:nvSpPr>
          <p:cNvPr id="23" name="ack-b-0"/>
          <p:cNvSpPr txBox="1"/>
          <p:nvPr/>
        </p:nvSpPr>
        <p:spPr>
          <a:xfrm>
            <a:off x="7360920" y="2770632"/>
            <a:ext cx="4023360" cy="731520"/>
          </a:xfrm>
          <a:prstGeom prst="rect">
            <a:avLst/>
          </a:prstGeom>
          <a:noFill/>
          <a:ln/>
        </p:spPr>
        <p:txBody>
          <a:bodyPr wrap="square" lIns="0" tIns="0" rIns="0" bIns="0" rtlCol="0" anchor="t"/>
          <a:lstStyle/>
          <a:p>
            <a:pPr indent="0" marL="0">
              <a:buNone/>
            </a:pPr>
            <a:r>
              <a:rPr lang="en-US" sz="1400" dirty="0">
                <a:solidFill>
                  <a:schemeClr val="tx1"/>
                </a:solidFill>
              </a:rPr>
              <a:t>each suggestion is rendered from a template and proven with tofu plan</a:t>
            </a:r>
            <a:endParaRPr lang="en-US" sz="1400" dirty="0"/>
          </a:p>
        </p:txBody>
      </p:sp>
      <p:sp>
        <p:nvSpPr>
          <p:cNvPr id="24" name="ack-dot-1"/>
          <p:cNvSpPr/>
          <p:nvPr/>
        </p:nvSpPr>
        <p:spPr>
          <a:xfrm>
            <a:off x="6949440" y="3657600"/>
            <a:ext cx="256032" cy="256032"/>
          </a:xfrm>
          <a:prstGeom prst="ellipse">
            <a:avLst/>
          </a:prstGeom>
          <a:solidFill>
            <a:schemeClr val="accent3"/>
          </a:solidFill>
          <a:ln w="12700">
            <a:solidFill>
              <a:schemeClr val="accent3"/>
            </a:solidFill>
            <a:prstDash val="solid"/>
          </a:ln>
        </p:spPr>
      </p:sp>
      <p:sp>
        <p:nvSpPr>
          <p:cNvPr id="25" name="ack-h-1"/>
          <p:cNvSpPr txBox="1"/>
          <p:nvPr/>
        </p:nvSpPr>
        <p:spPr>
          <a:xfrm>
            <a:off x="7360920" y="3611880"/>
            <a:ext cx="4023360" cy="347472"/>
          </a:xfrm>
          <a:prstGeom prst="rect">
            <a:avLst/>
          </a:prstGeom>
          <a:noFill/>
          <a:ln/>
        </p:spPr>
        <p:txBody>
          <a:bodyPr wrap="square" lIns="0" tIns="0" rIns="0" bIns="0" rtlCol="0" anchor="t"/>
          <a:lstStyle/>
          <a:p>
            <a:pPr indent="0" marL="0">
              <a:buNone/>
            </a:pPr>
            <a:r>
              <a:rPr lang="en-US" sz="1600" b="1" dirty="0">
                <a:solidFill>
                  <a:schemeClr val="tx1"/>
                </a:solidFill>
              </a:rPr>
              <a:t>Or accept the increase</a:t>
            </a:r>
            <a:endParaRPr lang="en-US" sz="1600" dirty="0"/>
          </a:p>
        </p:txBody>
      </p:sp>
      <p:sp>
        <p:nvSpPr>
          <p:cNvPr id="26" name="ack-b-1"/>
          <p:cNvSpPr txBox="1"/>
          <p:nvPr/>
        </p:nvSpPr>
        <p:spPr>
          <a:xfrm>
            <a:off x="7360920" y="3959352"/>
            <a:ext cx="4023360" cy="731520"/>
          </a:xfrm>
          <a:prstGeom prst="rect">
            <a:avLst/>
          </a:prstGeom>
          <a:noFill/>
          <a:ln/>
        </p:spPr>
        <p:txBody>
          <a:bodyPr wrap="square" lIns="0" tIns="0" rIns="0" bIns="0" rtlCol="0" anchor="t"/>
          <a:lstStyle/>
          <a:p>
            <a:pPr indent="0" marL="0">
              <a:buNone/>
            </a:pPr>
            <a:r>
              <a:rPr lang="en-US" sz="1400" dirty="0">
                <a:solidFill>
                  <a:schemeClr val="tx1"/>
                </a:solidFill>
              </a:rPr>
              <a:t>label eg/carbon-accepted plus a written reason; who and why go to the ledger</a:t>
            </a:r>
            <a:endParaRPr lang="en-US" sz="1400" dirty="0"/>
          </a:p>
        </p:txBody>
      </p:sp>
      <p:sp>
        <p:nvSpPr>
          <p:cNvPr id="27" name="ack-dot-2"/>
          <p:cNvSpPr/>
          <p:nvPr/>
        </p:nvSpPr>
        <p:spPr>
          <a:xfrm>
            <a:off x="6949440" y="4846320"/>
            <a:ext cx="256032" cy="256032"/>
          </a:xfrm>
          <a:prstGeom prst="ellipse">
            <a:avLst/>
          </a:prstGeom>
          <a:solidFill>
            <a:schemeClr val="accent4"/>
          </a:solidFill>
          <a:ln w="12700">
            <a:solidFill>
              <a:schemeClr val="accent4"/>
            </a:solidFill>
            <a:prstDash val="solid"/>
          </a:ln>
        </p:spPr>
      </p:sp>
      <p:sp>
        <p:nvSpPr>
          <p:cNvPr id="28" name="ack-h-2"/>
          <p:cNvSpPr txBox="1"/>
          <p:nvPr/>
        </p:nvSpPr>
        <p:spPr>
          <a:xfrm>
            <a:off x="7360920" y="4800600"/>
            <a:ext cx="4023360" cy="347472"/>
          </a:xfrm>
          <a:prstGeom prst="rect">
            <a:avLst/>
          </a:prstGeom>
          <a:noFill/>
          <a:ln/>
        </p:spPr>
        <p:txBody>
          <a:bodyPr wrap="square" lIns="0" tIns="0" rIns="0" bIns="0" rtlCol="0" anchor="t"/>
          <a:lstStyle/>
          <a:p>
            <a:pPr indent="0" marL="0">
              <a:buNone/>
            </a:pPr>
            <a:r>
              <a:rPr lang="en-US" sz="1600" b="1" dirty="0">
                <a:solidFill>
                  <a:schemeClr val="tx1"/>
                </a:solidFill>
              </a:rPr>
              <a:t>Below 25 kgCO2e/yr</a:t>
            </a:r>
            <a:endParaRPr lang="en-US" sz="1600" dirty="0"/>
          </a:p>
        </p:txBody>
      </p:sp>
      <p:sp>
        <p:nvSpPr>
          <p:cNvPr id="29" name="ack-b-2"/>
          <p:cNvSpPr txBox="1"/>
          <p:nvPr/>
        </p:nvSpPr>
        <p:spPr>
          <a:xfrm>
            <a:off x="7360920" y="5148072"/>
            <a:ext cx="4023360" cy="731520"/>
          </a:xfrm>
          <a:prstGeom prst="rect">
            <a:avLst/>
          </a:prstGeom>
          <a:noFill/>
          <a:ln/>
        </p:spPr>
        <p:txBody>
          <a:bodyPr wrap="square" lIns="0" tIns="0" rIns="0" bIns="0" rtlCol="0" anchor="t"/>
          <a:lstStyle/>
          <a:p>
            <a:pPr indent="0" marL="0">
              <a:buNone/>
            </a:pPr>
            <a:r>
              <a:rPr lang="en-US" sz="1400" dirty="0">
                <a:solidFill>
                  <a:schemeClr val="tx1"/>
                </a:solidFill>
              </a:rPr>
              <a:t>pass, no noise; 25–100 is a warning</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67"/>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Methodology: published coefficients, pinned and tested</a:t>
            </a:r>
            <a:endParaRPr lang="en-US" sz="3200" dirty="0"/>
          </a:p>
        </p:txBody>
      </p:sp>
      <p:sp>
        <p:nvSpPr>
          <p:cNvPr id="3" name="formula-card"/>
          <p:cNvSpPr/>
          <p:nvPr/>
        </p:nvSpPr>
        <p:spPr>
          <a:xfrm>
            <a:off x="548640" y="1325880"/>
            <a:ext cx="5760720" cy="4800600"/>
          </a:xfrm>
          <a:prstGeom prst="roundRect">
            <a:avLst>
              <a:gd name="adj" fmla="val 2286"/>
            </a:avLst>
          </a:prstGeom>
          <a:solidFill>
            <a:schemeClr val="tx2"/>
          </a:solidFill>
          <a:ln w="12700">
            <a:solidFill>
              <a:schemeClr val="tx2"/>
            </a:solidFill>
            <a:prstDash val="solid"/>
          </a:ln>
        </p:spPr>
      </p:sp>
      <p:sp>
        <p:nvSpPr>
          <p:cNvPr id="4" name="formula-title"/>
          <p:cNvSpPr txBox="1"/>
          <p:nvPr/>
        </p:nvSpPr>
        <p:spPr>
          <a:xfrm>
            <a:off x="822960" y="1508760"/>
            <a:ext cx="5303520" cy="365760"/>
          </a:xfrm>
          <a:prstGeom prst="rect">
            <a:avLst/>
          </a:prstGeom>
          <a:noFill/>
          <a:ln/>
        </p:spPr>
        <p:txBody>
          <a:bodyPr wrap="square" lIns="0" tIns="0" rIns="0" bIns="0" rtlCol="0" anchor="t"/>
          <a:lstStyle/>
          <a:p>
            <a:pPr indent="0" marL="0">
              <a:buNone/>
            </a:pPr>
            <a:r>
              <a:rPr lang="en-US" sz="1600" b="1" dirty="0">
                <a:solidFill>
                  <a:schemeClr val="accent6"/>
                </a:solidFill>
              </a:rPr>
              <a:t>Per resource, Cloud Carbon Footprint model</a:t>
            </a:r>
            <a:endParaRPr lang="en-US" sz="1600" dirty="0"/>
          </a:p>
        </p:txBody>
      </p:sp>
      <p:sp>
        <p:nvSpPr>
          <p:cNvPr id="5" name="formula"/>
          <p:cNvSpPr txBox="1"/>
          <p:nvPr/>
        </p:nvSpPr>
        <p:spPr>
          <a:xfrm>
            <a:off x="822960" y="2011680"/>
            <a:ext cx="5303520" cy="2103120"/>
          </a:xfrm>
          <a:prstGeom prst="rect">
            <a:avLst/>
          </a:prstGeom>
          <a:noFill/>
          <a:ln/>
        </p:spPr>
        <p:txBody>
          <a:bodyPr wrap="square" lIns="0" tIns="0" rIns="0" bIns="0" rtlCol="0" anchor="t"/>
          <a:lstStyle/>
          <a:p>
            <a:pPr indent="0" marL="0">
              <a:spcAft>
                <a:spcPts val="800"/>
              </a:spcAft>
              <a:buNone/>
            </a:pPr>
            <a:r>
              <a:rPr lang="en-US" sz="1500" dirty="0">
                <a:solidFill>
                  <a:schemeClr val="bg1"/>
                </a:solidFill>
                <a:latin typeface="Courier New" pitchFamily="34" charset="0"/>
                <a:ea typeface="Courier New" pitchFamily="34" charset="-122"/>
                <a:cs typeface="Courier New" pitchFamily="34" charset="-120"/>
              </a:rPr>
              <a:t>cpu_W = vCPU × (min + u × (max − min))</a:t>
            </a:r>
            <a:endParaRPr lang="en-US" sz="1500" dirty="0"/>
          </a:p>
          <a:p>
            <a:pPr indent="0" marL="0">
              <a:spcAft>
                <a:spcPts val="800"/>
              </a:spcAft>
              <a:buNone/>
            </a:pPr>
            <a:r>
              <a:rPr lang="en-US" sz="1500" dirty="0">
                <a:solidFill>
                  <a:schemeClr val="bg1"/>
                </a:solidFill>
                <a:latin typeface="Courier New" pitchFamily="34" charset="0"/>
                <a:ea typeface="Courier New" pitchFamily="34" charset="-122"/>
                <a:cs typeface="Courier New" pitchFamily="34" charset="-120"/>
              </a:rPr>
              <a:t>gpu_W = GPUs × (min + u × (max − min))</a:t>
            </a:r>
            <a:endParaRPr lang="en-US" sz="1500" dirty="0"/>
          </a:p>
          <a:p>
            <a:pPr indent="0" marL="0">
              <a:spcAft>
                <a:spcPts val="800"/>
              </a:spcAft>
              <a:buNone/>
            </a:pPr>
            <a:r>
              <a:rPr lang="en-US" sz="1500" dirty="0">
                <a:solidFill>
                  <a:schemeClr val="bg1"/>
                </a:solidFill>
                <a:latin typeface="Courier New" pitchFamily="34" charset="0"/>
                <a:ea typeface="Courier New" pitchFamily="34" charset="-122"/>
                <a:cs typeface="Courier New" pitchFamily="34" charset="-120"/>
              </a:rPr>
              <a:t>mem_W = extra GiB × memory coefficient</a:t>
            </a:r>
            <a:endParaRPr lang="en-US" sz="1500" dirty="0"/>
          </a:p>
          <a:p>
            <a:pPr indent="0" marL="0">
              <a:spcAft>
                <a:spcPts val="800"/>
              </a:spcAft>
              <a:buNone/>
            </a:pPr>
            <a:r>
              <a:rPr lang="en-US" sz="1500" dirty="0">
                <a:solidFill>
                  <a:schemeClr val="bg1"/>
                </a:solidFill>
                <a:latin typeface="Courier New" pitchFamily="34" charset="0"/>
                <a:ea typeface="Courier New" pitchFamily="34" charset="-122"/>
                <a:cs typeface="Courier New" pitchFamily="34" charset="-120"/>
              </a:rPr>
              <a:t>kWh   = (cpu + gpu + mem) × PUE 1.135 × h</a:t>
            </a:r>
            <a:endParaRPr lang="en-US" sz="1500" dirty="0"/>
          </a:p>
          <a:p>
            <a:pPr indent="0" marL="0">
              <a:spcAft>
                <a:spcPts val="800"/>
              </a:spcAft>
              <a:buNone/>
            </a:pPr>
            <a:r>
              <a:rPr lang="en-US" sz="1500" dirty="0">
                <a:solidFill>
                  <a:schemeClr val="bg1"/>
                </a:solidFill>
                <a:latin typeface="Courier New" pitchFamily="34" charset="0"/>
                <a:ea typeface="Courier New" pitchFamily="34" charset="-122"/>
                <a:cs typeface="Courier New" pitchFamily="34" charset="-120"/>
              </a:rPr>
              <a:t>kgCO2e = kWh × regional g/kWh ÷ 1000</a:t>
            </a:r>
            <a:endParaRPr lang="en-US" sz="1500" dirty="0"/>
          </a:p>
        </p:txBody>
      </p:sp>
      <p:sp>
        <p:nvSpPr>
          <p:cNvPr id="6" name="formula-note"/>
          <p:cNvSpPr txBox="1"/>
          <p:nvPr/>
        </p:nvSpPr>
        <p:spPr>
          <a:xfrm>
            <a:off x="822960" y="4343400"/>
            <a:ext cx="5303520" cy="1097280"/>
          </a:xfrm>
          <a:prstGeom prst="rect">
            <a:avLst/>
          </a:prstGeom>
          <a:noFill/>
          <a:ln/>
        </p:spPr>
        <p:txBody>
          <a:bodyPr wrap="square" lIns="0" tIns="0" rIns="0" bIns="0" rtlCol="0" anchor="t"/>
          <a:lstStyle/>
          <a:p>
            <a:pPr indent="0" marL="0">
              <a:buNone/>
            </a:pPr>
            <a:r>
              <a:rPr lang="en-US" sz="1400" dirty="0">
                <a:solidFill>
                  <a:schemeClr val="accent6"/>
                </a:solidFill>
              </a:rPr>
              <a:t>Location-based, GHG Protocol Scope 2. Annual regional factors for totals; half-hourly UK grid data only where it changes a decision (time-shifting).</a:t>
            </a:r>
            <a:endParaRPr lang="en-US" sz="1400" dirty="0"/>
          </a:p>
        </p:txBody>
      </p:sp>
      <p:sp>
        <p:nvSpPr>
          <p:cNvPr id="7" name="meth-card-0"/>
          <p:cNvSpPr/>
          <p:nvPr/>
        </p:nvSpPr>
        <p:spPr>
          <a:xfrm>
            <a:off x="6583680" y="1325880"/>
            <a:ext cx="5029200" cy="1463040"/>
          </a:xfrm>
          <a:prstGeom prst="roundRect">
            <a:avLst>
              <a:gd name="adj" fmla="val 7500"/>
            </a:avLst>
          </a:prstGeom>
          <a:solidFill>
            <a:schemeClr val="bg2"/>
          </a:solidFill>
          <a:ln w="12700">
            <a:solidFill>
              <a:schemeClr val="bg2"/>
            </a:solidFill>
            <a:prstDash val="solid"/>
          </a:ln>
        </p:spPr>
      </p:sp>
      <p:sp>
        <p:nvSpPr>
          <p:cNvPr id="8" name="meth-h-0"/>
          <p:cNvSpPr txBox="1"/>
          <p:nvPr/>
        </p:nvSpPr>
        <p:spPr>
          <a:xfrm>
            <a:off x="6812280" y="1463040"/>
            <a:ext cx="4572000" cy="365760"/>
          </a:xfrm>
          <a:prstGeom prst="rect">
            <a:avLst/>
          </a:prstGeom>
          <a:noFill/>
          <a:ln/>
        </p:spPr>
        <p:txBody>
          <a:bodyPr wrap="square" lIns="0" tIns="0" rIns="0" bIns="0" rtlCol="0" anchor="t"/>
          <a:lstStyle/>
          <a:p>
            <a:pPr indent="0" marL="0">
              <a:buNone/>
            </a:pPr>
            <a:r>
              <a:rPr lang="en-US" sz="1700" b="1" dirty="0">
                <a:solidFill>
                  <a:schemeClr val="tx2"/>
                </a:solidFill>
              </a:rPr>
              <a:t>Sources</a:t>
            </a:r>
            <a:endParaRPr lang="en-US" sz="1700" dirty="0"/>
          </a:p>
        </p:txBody>
      </p:sp>
      <p:sp>
        <p:nvSpPr>
          <p:cNvPr id="9" name="meth-b-0"/>
          <p:cNvSpPr txBox="1"/>
          <p:nvPr/>
        </p:nvSpPr>
        <p:spPr>
          <a:xfrm>
            <a:off x="6812280" y="1856232"/>
            <a:ext cx="4572000" cy="868680"/>
          </a:xfrm>
          <a:prstGeom prst="rect">
            <a:avLst/>
          </a:prstGeom>
          <a:noFill/>
          <a:ln/>
        </p:spPr>
        <p:txBody>
          <a:bodyPr wrap="square" lIns="0" tIns="0" rIns="0" bIns="0" rtlCol="0" anchor="t"/>
          <a:lstStyle/>
          <a:p>
            <a:pPr indent="0" marL="0">
              <a:buNone/>
            </a:pPr>
            <a:r>
              <a:rPr lang="en-US" sz="1400" dirty="0">
                <a:solidFill>
                  <a:schemeClr val="tx1"/>
                </a:solidFill>
              </a:rPr>
              <a:t>CCF coefficients vendored at commit f584c549 (Apache-2.0) · UK Carbon Intensity (CC BY 4.0) · synthetic estate, seed 42</a:t>
            </a:r>
            <a:endParaRPr lang="en-US" sz="1400" dirty="0"/>
          </a:p>
        </p:txBody>
      </p:sp>
      <p:sp>
        <p:nvSpPr>
          <p:cNvPr id="10" name="meth-card-1"/>
          <p:cNvSpPr/>
          <p:nvPr/>
        </p:nvSpPr>
        <p:spPr>
          <a:xfrm>
            <a:off x="6583680" y="2953512"/>
            <a:ext cx="5029200" cy="1463040"/>
          </a:xfrm>
          <a:prstGeom prst="roundRect">
            <a:avLst>
              <a:gd name="adj" fmla="val 7500"/>
            </a:avLst>
          </a:prstGeom>
          <a:solidFill>
            <a:schemeClr val="bg2"/>
          </a:solidFill>
          <a:ln w="12700">
            <a:solidFill>
              <a:schemeClr val="bg2"/>
            </a:solidFill>
            <a:prstDash val="solid"/>
          </a:ln>
        </p:spPr>
      </p:sp>
      <p:sp>
        <p:nvSpPr>
          <p:cNvPr id="11" name="meth-h-1"/>
          <p:cNvSpPr txBox="1"/>
          <p:nvPr/>
        </p:nvSpPr>
        <p:spPr>
          <a:xfrm>
            <a:off x="6812280" y="3090672"/>
            <a:ext cx="4572000" cy="365760"/>
          </a:xfrm>
          <a:prstGeom prst="rect">
            <a:avLst/>
          </a:prstGeom>
          <a:noFill/>
          <a:ln/>
        </p:spPr>
        <p:txBody>
          <a:bodyPr wrap="square" lIns="0" tIns="0" rIns="0" bIns="0" rtlCol="0" anchor="t"/>
          <a:lstStyle/>
          <a:p>
            <a:pPr indent="0" marL="0">
              <a:buNone/>
            </a:pPr>
            <a:r>
              <a:rPr lang="en-US" sz="1700" b="1" dirty="0">
                <a:solidFill>
                  <a:schemeClr val="tx2"/>
                </a:solidFill>
              </a:rPr>
              <a:t>New resources are assumed</a:t>
            </a:r>
            <a:endParaRPr lang="en-US" sz="1700" dirty="0"/>
          </a:p>
        </p:txBody>
      </p:sp>
      <p:sp>
        <p:nvSpPr>
          <p:cNvPr id="12" name="meth-b-1"/>
          <p:cNvSpPr txBox="1"/>
          <p:nvPr/>
        </p:nvSpPr>
        <p:spPr>
          <a:xfrm>
            <a:off x="6812280" y="3483864"/>
            <a:ext cx="4572000" cy="868680"/>
          </a:xfrm>
          <a:prstGeom prst="rect">
            <a:avLst/>
          </a:prstGeom>
          <a:noFill/>
          <a:ln/>
        </p:spPr>
        <p:txBody>
          <a:bodyPr wrap="square" lIns="0" tIns="0" rIns="0" bIns="0" rtlCol="0" anchor="t"/>
          <a:lstStyle/>
          <a:p>
            <a:pPr indent="0" marL="0">
              <a:buNone/>
            </a:pPr>
            <a:r>
              <a:rPr lang="en-US" sz="1400" dirty="0">
                <a:solidFill>
                  <a:schemeClr val="tx1"/>
                </a:solidFill>
              </a:rPr>
              <a:t>no history → CCF's 50% utilisation default, published as a 10–90% range and labelled 'assumed'</a:t>
            </a:r>
            <a:endParaRPr lang="en-US" sz="1400" dirty="0"/>
          </a:p>
        </p:txBody>
      </p:sp>
      <p:sp>
        <p:nvSpPr>
          <p:cNvPr id="13" name="meth-card-2"/>
          <p:cNvSpPr/>
          <p:nvPr/>
        </p:nvSpPr>
        <p:spPr>
          <a:xfrm>
            <a:off x="6583680" y="4581144"/>
            <a:ext cx="5029200" cy="1463040"/>
          </a:xfrm>
          <a:prstGeom prst="roundRect">
            <a:avLst>
              <a:gd name="adj" fmla="val 7500"/>
            </a:avLst>
          </a:prstGeom>
          <a:solidFill>
            <a:schemeClr val="bg2"/>
          </a:solidFill>
          <a:ln w="12700">
            <a:solidFill>
              <a:schemeClr val="bg2"/>
            </a:solidFill>
            <a:prstDash val="solid"/>
          </a:ln>
        </p:spPr>
      </p:sp>
      <p:sp>
        <p:nvSpPr>
          <p:cNvPr id="14" name="meth-h-2"/>
          <p:cNvSpPr txBox="1"/>
          <p:nvPr/>
        </p:nvSpPr>
        <p:spPr>
          <a:xfrm>
            <a:off x="6812280" y="4718304"/>
            <a:ext cx="4572000" cy="365760"/>
          </a:xfrm>
          <a:prstGeom prst="rect">
            <a:avLst/>
          </a:prstGeom>
          <a:noFill/>
          <a:ln/>
        </p:spPr>
        <p:txBody>
          <a:bodyPr wrap="square" lIns="0" tIns="0" rIns="0" bIns="0" rtlCol="0" anchor="t"/>
          <a:lstStyle/>
          <a:p>
            <a:pPr indent="0" marL="0">
              <a:buNone/>
            </a:pPr>
            <a:r>
              <a:rPr lang="en-US" sz="1700" b="1" dirty="0">
                <a:solidFill>
                  <a:schemeClr val="tx2"/>
                </a:solidFill>
              </a:rPr>
              <a:t>Verified, not asserted</a:t>
            </a:r>
            <a:endParaRPr lang="en-US" sz="1700" dirty="0"/>
          </a:p>
        </p:txBody>
      </p:sp>
      <p:sp>
        <p:nvSpPr>
          <p:cNvPr id="15" name="meth-b-2"/>
          <p:cNvSpPr txBox="1"/>
          <p:nvPr/>
        </p:nvSpPr>
        <p:spPr>
          <a:xfrm>
            <a:off x="6812280" y="5111496"/>
            <a:ext cx="4572000" cy="868680"/>
          </a:xfrm>
          <a:prstGeom prst="rect">
            <a:avLst/>
          </a:prstGeom>
          <a:noFill/>
          <a:ln/>
        </p:spPr>
        <p:txBody>
          <a:bodyPr wrap="square" lIns="0" tIns="0" rIns="0" bIns="0" rtlCol="0" anchor="t"/>
          <a:lstStyle/>
          <a:p>
            <a:pPr indent="0" marL="0">
              <a:buNone/>
            </a:pPr>
            <a:r>
              <a:rPr lang="en-US" sz="1400" dirty="0">
                <a:solidFill>
                  <a:schemeClr val="tx1"/>
                </a:solidFill>
              </a:rPr>
              <a:t>golden values G1–G7 reproduced by tests to 3 decimals; provenance on every figure; append-only ledger</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67"/>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Results on the synthetic estate</a:t>
            </a:r>
            <a:endParaRPr lang="en-US" sz="3200" dirty="0"/>
          </a:p>
        </p:txBody>
      </p:sp>
      <p:graphicFrame>
        <p:nvGraphicFramePr>
          <p:cNvPr id="3" name="results-chart" descr=""/>
          <p:cNvGraphicFramePr/>
          <p:nvPr/>
        </p:nvGraphicFramePr>
        <p:xfrm>
          <a:off x="548640" y="128016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tat-card-0"/>
          <p:cNvSpPr/>
          <p:nvPr/>
        </p:nvSpPr>
        <p:spPr>
          <a:xfrm>
            <a:off x="7863840" y="1325880"/>
            <a:ext cx="3749040" cy="1325880"/>
          </a:xfrm>
          <a:prstGeom prst="roundRect">
            <a:avLst>
              <a:gd name="adj" fmla="val 8276"/>
            </a:avLst>
          </a:prstGeom>
          <a:solidFill>
            <a:schemeClr val="bg2"/>
          </a:solidFill>
          <a:ln w="12700">
            <a:solidFill>
              <a:schemeClr val="bg2"/>
            </a:solidFill>
            <a:prstDash val="solid"/>
          </a:ln>
        </p:spPr>
      </p:sp>
      <p:sp>
        <p:nvSpPr>
          <p:cNvPr id="5" name="stat-n-0"/>
          <p:cNvSpPr txBox="1"/>
          <p:nvPr/>
        </p:nvSpPr>
        <p:spPr>
          <a:xfrm>
            <a:off x="8092440" y="1435608"/>
            <a:ext cx="329184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573</a:t>
            </a:r>
            <a:endParaRPr lang="en-US" sz="3600" dirty="0"/>
          </a:p>
        </p:txBody>
      </p:sp>
      <p:sp>
        <p:nvSpPr>
          <p:cNvPr id="6" name="stat-l-0"/>
          <p:cNvSpPr txBox="1"/>
          <p:nvPr/>
        </p:nvSpPr>
        <p:spPr>
          <a:xfrm>
            <a:off x="8092440" y="2075688"/>
            <a:ext cx="3291840" cy="548640"/>
          </a:xfrm>
          <a:prstGeom prst="rect">
            <a:avLst/>
          </a:prstGeom>
          <a:noFill/>
          <a:ln/>
        </p:spPr>
        <p:txBody>
          <a:bodyPr wrap="square" lIns="0" tIns="0" rIns="0" bIns="0" rtlCol="0" anchor="t"/>
          <a:lstStyle/>
          <a:p>
            <a:pPr indent="0" marL="0">
              <a:buNone/>
            </a:pPr>
            <a:r>
              <a:rPr lang="en-US" sz="1300" dirty="0">
                <a:solidFill>
                  <a:schemeClr val="tx1"/>
                </a:solidFill>
              </a:rPr>
              <a:t>kgCO2e/yr avoided by three sweep fixes</a:t>
            </a:r>
            <a:endParaRPr lang="en-US" sz="1300" dirty="0"/>
          </a:p>
        </p:txBody>
      </p:sp>
      <p:sp>
        <p:nvSpPr>
          <p:cNvPr id="7" name="stat-card-1"/>
          <p:cNvSpPr/>
          <p:nvPr/>
        </p:nvSpPr>
        <p:spPr>
          <a:xfrm>
            <a:off x="7863840" y="2807208"/>
            <a:ext cx="3749040" cy="1325880"/>
          </a:xfrm>
          <a:prstGeom prst="roundRect">
            <a:avLst>
              <a:gd name="adj" fmla="val 8276"/>
            </a:avLst>
          </a:prstGeom>
          <a:solidFill>
            <a:schemeClr val="bg2"/>
          </a:solidFill>
          <a:ln w="12700">
            <a:solidFill>
              <a:schemeClr val="bg2"/>
            </a:solidFill>
            <a:prstDash val="solid"/>
          </a:ln>
        </p:spPr>
      </p:sp>
      <p:sp>
        <p:nvSpPr>
          <p:cNvPr id="8" name="stat-n-1"/>
          <p:cNvSpPr txBox="1"/>
          <p:nvPr/>
        </p:nvSpPr>
        <p:spPr>
          <a:xfrm>
            <a:off x="8092440" y="2916936"/>
            <a:ext cx="3291840" cy="64008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+684</a:t>
            </a:r>
            <a:endParaRPr lang="en-US" sz="3600" dirty="0"/>
          </a:p>
        </p:txBody>
      </p:sp>
      <p:sp>
        <p:nvSpPr>
          <p:cNvPr id="9" name="stat-l-1"/>
          <p:cNvSpPr txBox="1"/>
          <p:nvPr/>
        </p:nvSpPr>
        <p:spPr>
          <a:xfrm>
            <a:off x="8092440" y="3557016"/>
            <a:ext cx="3291840" cy="548640"/>
          </a:xfrm>
          <a:prstGeom prst="rect">
            <a:avLst/>
          </a:prstGeom>
          <a:noFill/>
          <a:ln/>
        </p:spPr>
        <p:txBody>
          <a:bodyPr wrap="square" lIns="0" tIns="0" rIns="0" bIns="0" rtlCol="0" anchor="t"/>
          <a:lstStyle/>
          <a:p>
            <a:pPr indent="0" marL="0">
              <a:buNone/>
            </a:pPr>
            <a:r>
              <a:rPr lang="en-US" sz="1300" dirty="0">
                <a:solidFill>
                  <a:schemeClr val="tx1"/>
                </a:solidFill>
              </a:rPr>
              <a:t>kgCO2e/yr stopped at review (range 263–1,104)</a:t>
            </a:r>
            <a:endParaRPr lang="en-US" sz="1300" dirty="0"/>
          </a:p>
        </p:txBody>
      </p:sp>
      <p:sp>
        <p:nvSpPr>
          <p:cNvPr id="10" name="stat-card-2"/>
          <p:cNvSpPr/>
          <p:nvPr/>
        </p:nvSpPr>
        <p:spPr>
          <a:xfrm>
            <a:off x="7863840" y="4288536"/>
            <a:ext cx="3749040" cy="1325880"/>
          </a:xfrm>
          <a:prstGeom prst="roundRect">
            <a:avLst>
              <a:gd name="adj" fmla="val 8276"/>
            </a:avLst>
          </a:prstGeom>
          <a:solidFill>
            <a:schemeClr val="bg2"/>
          </a:solidFill>
          <a:ln w="12700">
            <a:solidFill>
              <a:schemeClr val="bg2"/>
            </a:solidFill>
            <a:prstDash val="solid"/>
          </a:ln>
        </p:spPr>
      </p:sp>
      <p:sp>
        <p:nvSpPr>
          <p:cNvPr id="11" name="stat-n-2"/>
          <p:cNvSpPr txBox="1"/>
          <p:nvPr/>
        </p:nvSpPr>
        <p:spPr>
          <a:xfrm>
            <a:off x="8092440" y="4398264"/>
            <a:ext cx="3291840" cy="640080"/>
          </a:xfrm>
          <a:prstGeom prst="rect">
            <a:avLst/>
          </a:prstGeom>
          <a:noFill/>
          <a:ln/>
        </p:spPr>
        <p:txBody>
          <a:bodyPr wrap="square" lIns="0" tIns="0" rIns="0" bIns="0" rtlCol="0" anchor="t"/>
          <a:lstStyle/>
          <a:p>
            <a:pPr indent="0" marL="0">
              <a:buNone/>
            </a:pPr>
            <a:r>
              <a:rPr lang="en-US" sz="3600" b="1" dirty="0">
                <a:solidFill>
                  <a:schemeClr val="accent4"/>
                </a:solidFill>
                <a:latin typeface="Cambria" pitchFamily="34" charset="0"/>
                <a:ea typeface="Cambria" pitchFamily="34" charset="-122"/>
                <a:cs typeface="Cambria" pitchFamily="34" charset="-120"/>
              </a:rPr>
              <a:t>≈ 0</a:t>
            </a:r>
            <a:endParaRPr lang="en-US" sz="3600" dirty="0"/>
          </a:p>
        </p:txBody>
      </p:sp>
      <p:sp>
        <p:nvSpPr>
          <p:cNvPr id="12" name="stat-l-2"/>
          <p:cNvSpPr txBox="1"/>
          <p:nvPr/>
        </p:nvSpPr>
        <p:spPr>
          <a:xfrm>
            <a:off x="8092440" y="5038344"/>
            <a:ext cx="3291840" cy="548640"/>
          </a:xfrm>
          <a:prstGeom prst="rect">
            <a:avLst/>
          </a:prstGeom>
          <a:noFill/>
          <a:ln/>
        </p:spPr>
        <p:txBody>
          <a:bodyPr wrap="square" lIns="0" tIns="0" rIns="0" bIns="0" rtlCol="0" anchor="t"/>
          <a:lstStyle/>
          <a:p>
            <a:pPr indent="0" marL="0">
              <a:buNone/>
            </a:pPr>
            <a:r>
              <a:rPr lang="en-US" sz="1300" dirty="0">
                <a:solidFill>
                  <a:schemeClr val="tx1"/>
                </a:solidFill>
              </a:rPr>
              <a:t>kgCO2e from archiving 40 TB of logs — a cost saving, not a carbon one</a:t>
            </a:r>
            <a:endParaRPr lang="en-US" sz="1300" dirty="0"/>
          </a:p>
        </p:txBody>
      </p:sp>
      <p:sp>
        <p:nvSpPr>
          <p:cNvPr id="13" name="results-note"/>
          <p:cNvSpPr txBox="1"/>
          <p:nvPr/>
        </p:nvSpPr>
        <p:spPr>
          <a:xfrm>
            <a:off x="7863840" y="5806440"/>
            <a:ext cx="3749040" cy="548640"/>
          </a:xfrm>
          <a:prstGeom prst="rect">
            <a:avLst/>
          </a:prstGeom>
          <a:noFill/>
          <a:ln/>
        </p:spPr>
        <p:txBody>
          <a:bodyPr wrap="square" lIns="0" tIns="0" rIns="0" bIns="0" rtlCol="0" anchor="t"/>
          <a:lstStyle/>
          <a:p>
            <a:pPr indent="0" marL="0">
              <a:buNone/>
            </a:pPr>
            <a:r>
              <a:rPr lang="en-US" sz="1100" dirty="0">
                <a:solidFill>
                  <a:schemeClr val="accent5"/>
                </a:solidFill>
              </a:rPr>
              <a:t>Worked examples on the estate's own resources, reproduced by the test suite. Run metrics (precision, recall, trap violations, the agent's own energy) are in the README.</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67"/>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Impact: carbon becomes a review comment, not a report</a:t>
            </a:r>
            <a:endParaRPr lang="en-US" sz="3200" dirty="0"/>
          </a:p>
        </p:txBody>
      </p:sp>
      <p:graphicFrame>
        <p:nvGraphicFramePr>
          <p:cNvPr id="9" name="impact-table"/>
          <p:cNvGraphicFramePr>
            <a:graphicFrameLocks noGrp="1"/>
          </p:cNvGraphicFramePr>
          <p:nvPr>
            <p:extLst>
              <p:ext uri="{D42A27DB-BD31-4B8C-83A1-F6EECF244321}">
                <p14:modId xmlns:p14="http://schemas.microsoft.com/office/powerpoint/2010/main" val="1579011935"/>
              </p:ext>
            </p:extLst>
          </p:nvPr>
        </p:nvGraphicFramePr>
        <p:xfrm>
          <a:off x="548640" y="1325880"/>
          <a:ext cx="7223760" cy="914400"/>
        </p:xfrm>
        <a:graphic>
          <a:graphicData uri="http://schemas.openxmlformats.org/drawingml/2006/table">
            <a:tbl>
              <a:tblPr/>
              <a:tblGrid>
                <a:gridCol w="1737360"/>
                <a:gridCol w="2377440"/>
                <a:gridCol w="3108960"/>
              </a:tblGrid>
              <a:tr h="566928">
                <a:tc>
                  <a:txBody>
                    <a:bodyPr/>
                    <a:lstStyle/>
                    <a:p>
                      <a:pPr indent="0" marL="0">
                        <a:buNone/>
                      </a:pPr>
                      <a:endParaRPr lang="en-US" sz="1200" dirty="0"/>
                    </a:p>
                  </a:txBody>
                  <a:tcPr marL="73152" marR="73152" marT="73152" marB="73152"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FFFFFF"/>
                    </a:solidFill>
                  </a:tcPr>
                </a:tc>
                <a:tc>
                  <a:txBody>
                    <a:bodyPr/>
                    <a:lstStyle/>
                    <a:p>
                      <a:pPr indent="0" marL="0">
                        <a:buNone/>
                      </a:pPr>
                      <a:r>
                        <a:rPr lang="en-US" sz="1600" b="1" dirty="0">
                          <a:solidFill>
                            <a:srgbClr val="5F6F67"/>
                          </a:solidFill>
                        </a:rPr>
                        <a:t>Today</a:t>
                      </a:r>
                      <a:endParaRPr lang="en-US" sz="1600" dirty="0"/>
                    </a:p>
                  </a:txBody>
                  <a:tcPr marL="73152" marR="73152" marT="73152" marB="73152"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FFFFFF"/>
                    </a:solidFill>
                  </a:tcPr>
                </a:tc>
                <a:tc>
                  <a:txBody>
                    <a:bodyPr/>
                    <a:lstStyle/>
                    <a:p>
                      <a:pPr indent="0" marL="0">
                        <a:buNone/>
                      </a:pPr>
                      <a:r>
                        <a:rPr lang="en-US" sz="1600" b="1" dirty="0">
                          <a:solidFill>
                            <a:srgbClr val="1F7A4D"/>
                          </a:solidFill>
                        </a:rPr>
                        <a:t>With EmissionGate</a:t>
                      </a:r>
                      <a:endParaRPr lang="en-US" sz="1600" dirty="0"/>
                    </a:p>
                  </a:txBody>
                  <a:tcPr marL="73152" marR="73152" marT="73152" marB="73152"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0F3D2E"/>
                          </a:solidFill>
                        </a:rPr>
                        <a:t>When</a:t>
                      </a:r>
                      <a:endParaRPr lang="en-US" sz="1500" dirty="0"/>
                    </a:p>
                  </a:txBody>
                  <a:tcPr marL="73152" marR="73152" marT="73152" marB="73152"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FFFFFF"/>
                    </a:solidFill>
                  </a:tcPr>
                </a:tc>
                <a:tc>
                  <a:txBody>
                    <a:bodyPr/>
                    <a:lstStyle/>
                    <a:p>
                      <a:pPr indent="0" marL="0">
                        <a:buNone/>
                      </a:pPr>
                      <a:r>
                        <a:rPr lang="en-US" sz="1500" dirty="0">
                          <a:solidFill>
                            <a:srgbClr val="5F6F67"/>
                          </a:solidFill>
                        </a:rPr>
                        <a:t>monthly, after the fact</a:t>
                      </a:r>
                      <a:endParaRPr lang="en-US" sz="1500" dirty="0"/>
                    </a:p>
                  </a:txBody>
                  <a:tcPr marL="73152" marR="73152" marT="73152" marB="73152"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FFFFFF"/>
                    </a:solidFill>
                  </a:tcPr>
                </a:tc>
                <a:tc>
                  <a:txBody>
                    <a:bodyPr/>
                    <a:lstStyle/>
                    <a:p>
                      <a:pPr indent="0" marL="0">
                        <a:buNone/>
                      </a:pPr>
                      <a:r>
                        <a:rPr lang="en-US" sz="1500" b="1" dirty="0">
                          <a:solidFill>
                            <a:srgbClr val="1B2B24"/>
                          </a:solidFill>
                        </a:rPr>
                        <a:t>at merge, before the resource exists</a:t>
                      </a:r>
                      <a:endParaRPr lang="en-US" sz="1500" dirty="0"/>
                    </a:p>
                  </a:txBody>
                  <a:tcPr marL="73152" marR="73152" marT="73152" marB="73152"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0F3D2E"/>
                          </a:solidFill>
                        </a:rPr>
                        <a:t>Granularity</a:t>
                      </a:r>
                      <a:endParaRPr lang="en-US" sz="1500" dirty="0"/>
                    </a:p>
                  </a:txBody>
                  <a:tcPr marL="73152" marR="73152" marT="73152" marB="73152"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FFFFFF"/>
                    </a:solidFill>
                  </a:tcPr>
                </a:tc>
                <a:tc>
                  <a:txBody>
                    <a:bodyPr/>
                    <a:lstStyle/>
                    <a:p>
                      <a:pPr indent="0" marL="0">
                        <a:buNone/>
                      </a:pPr>
                      <a:r>
                        <a:rPr lang="en-US" sz="1500" dirty="0">
                          <a:solidFill>
                            <a:srgbClr val="5F6F67"/>
                          </a:solidFill>
                        </a:rPr>
                        <a:t>service and region</a:t>
                      </a:r>
                      <a:endParaRPr lang="en-US" sz="1500" dirty="0"/>
                    </a:p>
                  </a:txBody>
                  <a:tcPr marL="73152" marR="73152" marT="73152" marB="73152"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FFFFFF"/>
                    </a:solidFill>
                  </a:tcPr>
                </a:tc>
                <a:tc>
                  <a:txBody>
                    <a:bodyPr/>
                    <a:lstStyle/>
                    <a:p>
                      <a:pPr indent="0" marL="0">
                        <a:buNone/>
                      </a:pPr>
                      <a:r>
                        <a:rPr lang="en-US" sz="1500" b="1" dirty="0">
                          <a:solidFill>
                            <a:srgbClr val="1B2B24"/>
                          </a:solidFill>
                        </a:rPr>
                        <a:t>per resource, per change</a:t>
                      </a:r>
                      <a:endParaRPr lang="en-US" sz="1500" dirty="0"/>
                    </a:p>
                  </a:txBody>
                  <a:tcPr marL="73152" marR="73152" marT="73152" marB="73152"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0F3D2E"/>
                          </a:solidFill>
                        </a:rPr>
                        <a:t>Who sees it</a:t>
                      </a:r>
                      <a:endParaRPr lang="en-US" sz="1500" dirty="0"/>
                    </a:p>
                  </a:txBody>
                  <a:tcPr marL="73152" marR="73152" marT="73152" marB="73152"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FFFFFF"/>
                    </a:solidFill>
                  </a:tcPr>
                </a:tc>
                <a:tc>
                  <a:txBody>
                    <a:bodyPr/>
                    <a:lstStyle/>
                    <a:p>
                      <a:pPr indent="0" marL="0">
                        <a:buNone/>
                      </a:pPr>
                      <a:r>
                        <a:rPr lang="en-US" sz="1500" dirty="0">
                          <a:solidFill>
                            <a:srgbClr val="5F6F67"/>
                          </a:solidFill>
                        </a:rPr>
                        <a:t>a sustainability team</a:t>
                      </a:r>
                      <a:endParaRPr lang="en-US" sz="1500" dirty="0"/>
                    </a:p>
                  </a:txBody>
                  <a:tcPr marL="73152" marR="73152" marT="73152" marB="73152"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FFFFFF"/>
                    </a:solidFill>
                  </a:tcPr>
                </a:tc>
                <a:tc>
                  <a:txBody>
                    <a:bodyPr/>
                    <a:lstStyle/>
                    <a:p>
                      <a:pPr indent="0" marL="0">
                        <a:buNone/>
                      </a:pPr>
                      <a:r>
                        <a:rPr lang="en-US" sz="1500" b="1" dirty="0">
                          <a:solidFill>
                            <a:srgbClr val="1B2B24"/>
                          </a:solidFill>
                        </a:rPr>
                        <a:t>the engineer who can change it</a:t>
                      </a:r>
                      <a:endParaRPr lang="en-US" sz="1500" dirty="0"/>
                    </a:p>
                  </a:txBody>
                  <a:tcPr marL="73152" marR="73152" marT="73152" marB="73152"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0F3D2E"/>
                          </a:solidFill>
                        </a:rPr>
                        <a:t>What happens</a:t>
                      </a:r>
                      <a:endParaRPr lang="en-US" sz="1500" dirty="0"/>
                    </a:p>
                  </a:txBody>
                  <a:tcPr marL="73152" marR="73152" marT="73152" marB="73152"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FFFFFF"/>
                    </a:solidFill>
                  </a:tcPr>
                </a:tc>
                <a:tc>
                  <a:txBody>
                    <a:bodyPr/>
                    <a:lstStyle/>
                    <a:p>
                      <a:pPr indent="0" marL="0">
                        <a:buNone/>
                      </a:pPr>
                      <a:r>
                        <a:rPr lang="en-US" sz="1500" dirty="0">
                          <a:solidFill>
                            <a:srgbClr val="5F6F67"/>
                          </a:solidFill>
                        </a:rPr>
                        <a:t>a dashboard</a:t>
                      </a:r>
                      <a:endParaRPr lang="en-US" sz="1500" dirty="0"/>
                    </a:p>
                  </a:txBody>
                  <a:tcPr marL="73152" marR="73152" marT="73152" marB="73152"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FFFFFF"/>
                    </a:solidFill>
                  </a:tcPr>
                </a:tc>
                <a:tc>
                  <a:txBody>
                    <a:bodyPr/>
                    <a:lstStyle/>
                    <a:p>
                      <a:pPr indent="0" marL="0">
                        <a:buNone/>
                      </a:pPr>
                      <a:r>
                        <a:rPr lang="en-US" sz="1500" b="1" dirty="0">
                          <a:solidFill>
                            <a:srgbClr val="1B2B24"/>
                          </a:solidFill>
                        </a:rPr>
                        <a:t>a validated fix, or a written acknowledgement</a:t>
                      </a:r>
                      <a:endParaRPr lang="en-US" sz="1500" dirty="0"/>
                    </a:p>
                  </a:txBody>
                  <a:tcPr marL="73152" marR="73152" marT="73152" marB="73152"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0F3D2E"/>
                          </a:solidFill>
                        </a:rPr>
                        <a:t>Evidence</a:t>
                      </a:r>
                      <a:endParaRPr lang="en-US" sz="1500" dirty="0"/>
                    </a:p>
                  </a:txBody>
                  <a:tcPr marL="73152" marR="73152" marT="73152" marB="73152"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FFFFFF"/>
                    </a:solidFill>
                  </a:tcPr>
                </a:tc>
                <a:tc>
                  <a:txBody>
                    <a:bodyPr/>
                    <a:lstStyle/>
                    <a:p>
                      <a:pPr indent="0" marL="0">
                        <a:buNone/>
                      </a:pPr>
                      <a:r>
                        <a:rPr lang="en-US" sz="1500" dirty="0">
                          <a:solidFill>
                            <a:srgbClr val="5F6F67"/>
                          </a:solidFill>
                        </a:rPr>
                        <a:t>totals</a:t>
                      </a:r>
                      <a:endParaRPr lang="en-US" sz="1500" dirty="0"/>
                    </a:p>
                  </a:txBody>
                  <a:tcPr marL="73152" marR="73152" marT="73152" marB="73152"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FFFFFF"/>
                    </a:solidFill>
                  </a:tcPr>
                </a:tc>
                <a:tc>
                  <a:txBody>
                    <a:bodyPr/>
                    <a:lstStyle/>
                    <a:p>
                      <a:pPr indent="0" marL="0">
                        <a:buNone/>
                      </a:pPr>
                      <a:r>
                        <a:rPr lang="en-US" sz="1500" b="1" dirty="0">
                          <a:solidFill>
                            <a:srgbClr val="1B2B24"/>
                          </a:solidFill>
                        </a:rPr>
                        <a:t>provenance on every figure, append-only ledger</a:t>
                      </a:r>
                      <a:endParaRPr lang="en-US" sz="1500" dirty="0"/>
                    </a:p>
                  </a:txBody>
                  <a:tcPr marL="73152" marR="73152" marT="73152" marB="73152"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FFFFFF"/>
                    </a:solidFill>
                  </a:tcPr>
                </a:tc>
              </a:tr>
            </a:tbl>
          </a:graphicData>
        </a:graphic>
      </p:graphicFrame>
      <p:sp>
        <p:nvSpPr>
          <p:cNvPr id="4" name="impact-card"/>
          <p:cNvSpPr/>
          <p:nvPr/>
        </p:nvSpPr>
        <p:spPr>
          <a:xfrm>
            <a:off x="8138160" y="1325880"/>
            <a:ext cx="3474720" cy="4800600"/>
          </a:xfrm>
          <a:prstGeom prst="roundRect">
            <a:avLst>
              <a:gd name="adj" fmla="val 3158"/>
            </a:avLst>
          </a:prstGeom>
          <a:solidFill>
            <a:schemeClr val="tx2"/>
          </a:solidFill>
          <a:ln w="12700">
            <a:solidFill>
              <a:schemeClr val="tx2"/>
            </a:solidFill>
            <a:prstDash val="solid"/>
          </a:ln>
        </p:spPr>
      </p:sp>
      <p:pic>
        <p:nvPicPr>
          <p:cNvPr id="5" name="impact-icon" descr="preencoded.png">    </p:cNvPr>
          <p:cNvPicPr>
            <a:picLocks noChangeAspect="1"/>
          </p:cNvPicPr>
          <p:nvPr/>
        </p:nvPicPr>
        <p:blipFill>
          <a:blip r:embed="rId1"/>
          <a:stretch>
            <a:fillRect/>
          </a:stretch>
        </p:blipFill>
        <p:spPr>
          <a:xfrm>
            <a:off x="8412480" y="1600200"/>
            <a:ext cx="502920" cy="502920"/>
          </a:xfrm>
          <a:prstGeom prst="rect">
            <a:avLst/>
          </a:prstGeom>
        </p:spPr>
      </p:pic>
      <p:sp>
        <p:nvSpPr>
          <p:cNvPr id="6" name="impact-text"/>
          <p:cNvSpPr txBox="1"/>
          <p:nvPr/>
        </p:nvSpPr>
        <p:spPr>
          <a:xfrm>
            <a:off x="8412480" y="2286000"/>
            <a:ext cx="2971800" cy="3657600"/>
          </a:xfrm>
          <a:prstGeom prst="rect">
            <a:avLst/>
          </a:prstGeom>
          <a:noFill/>
          <a:ln/>
        </p:spPr>
        <p:txBody>
          <a:bodyPr wrap="square" lIns="0" tIns="0" rIns="0" bIns="0" rtlCol="0" anchor="t"/>
          <a:lstStyle/>
          <a:p>
            <a:pPr indent="0" marL="0">
              <a:buNone/>
            </a:pPr>
            <a:r>
              <a:rPr lang="en-US" sz="2000" b="1" dirty="0">
                <a:solidFill>
                  <a:schemeClr val="bg1"/>
                </a:solidFill>
              </a:rPr>
              <a:t>Prevention compounds</a:t>
            </a:r>
            <a:endParaRPr lang="en-US" sz="2000" dirty="0"/>
          </a:p>
          <a:p>
            <a:pPr indent="0" marL="0">
              <a:buNone/>
            </a:pPr>
            <a:r>
              <a:rPr lang="en-US" sz="800" dirty="0">
                <a:solidFill>
                  <a:srgbClr val="000000"/>
                </a:solidFill>
              </a:rPr>
              <a:t> </a:t>
            </a:r>
            <a:endParaRPr lang="en-US" sz="2000" dirty="0"/>
          </a:p>
          <a:p>
            <a:pPr indent="0" marL="0">
              <a:buNone/>
            </a:pPr>
            <a:r>
              <a:rPr lang="en-US" sz="1400" dirty="0">
                <a:solidFill>
                  <a:schemeClr val="accent6"/>
                </a:solidFill>
              </a:rPr>
              <a:t>Per-change figures are tens to hundreds of kgCO2e a year — that is what the coefficients say. The gate sees every infrastructure PR, so each one caught is avoided for the resource's whole life, with no clean-up project later.</a:t>
            </a:r>
            <a:endParaRPr lang="en-US" sz="2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67"/>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Efficiency choices: a small agent that measures itself</a:t>
            </a:r>
            <a:endParaRPr lang="en-US" sz="3200" dirty="0"/>
          </a:p>
        </p:txBody>
      </p:sp>
      <p:sp>
        <p:nvSpPr>
          <p:cNvPr id="3" name="eff-card-0"/>
          <p:cNvSpPr/>
          <p:nvPr/>
        </p:nvSpPr>
        <p:spPr>
          <a:xfrm>
            <a:off x="548640" y="1325880"/>
            <a:ext cx="3566160" cy="1691640"/>
          </a:xfrm>
          <a:prstGeom prst="roundRect">
            <a:avLst>
              <a:gd name="adj" fmla="val 6486"/>
            </a:avLst>
          </a:prstGeom>
          <a:solidFill>
            <a:schemeClr val="bg2"/>
          </a:solidFill>
          <a:ln w="12700">
            <a:solidFill>
              <a:schemeClr val="bg2"/>
            </a:solidFill>
            <a:prstDash val="solid"/>
          </a:ln>
        </p:spPr>
      </p:sp>
      <p:sp>
        <p:nvSpPr>
          <p:cNvPr id="4" name="eff-bg-0"/>
          <p:cNvSpPr/>
          <p:nvPr/>
        </p:nvSpPr>
        <p:spPr>
          <a:xfrm>
            <a:off x="777240" y="1554480"/>
            <a:ext cx="548640" cy="548640"/>
          </a:xfrm>
          <a:prstGeom prst="ellipse">
            <a:avLst/>
          </a:prstGeom>
          <a:solidFill>
            <a:schemeClr val="tx2"/>
          </a:solidFill>
          <a:ln w="12700">
            <a:solidFill>
              <a:schemeClr val="tx2"/>
            </a:solidFill>
            <a:prstDash val="solid"/>
          </a:ln>
        </p:spPr>
      </p:sp>
      <p:pic>
        <p:nvPicPr>
          <p:cNvPr id="5" name="eff-icon-0" descr="preencoded.png">    </p:cNvPr>
          <p:cNvPicPr>
            <a:picLocks noChangeAspect="1"/>
          </p:cNvPicPr>
          <p:nvPr/>
        </p:nvPicPr>
        <p:blipFill>
          <a:blip r:embed="rId1"/>
          <a:stretch>
            <a:fillRect/>
          </a:stretch>
        </p:blipFill>
        <p:spPr>
          <a:xfrm>
            <a:off x="914400" y="1691640"/>
            <a:ext cx="274320" cy="274320"/>
          </a:xfrm>
          <a:prstGeom prst="rect">
            <a:avLst/>
          </a:prstGeom>
        </p:spPr>
      </p:pic>
      <p:sp>
        <p:nvSpPr>
          <p:cNvPr id="6" name="eff-h-0"/>
          <p:cNvSpPr txBox="1"/>
          <p:nvPr/>
        </p:nvSpPr>
        <p:spPr>
          <a:xfrm>
            <a:off x="1463040" y="1581912"/>
            <a:ext cx="2514600" cy="502920"/>
          </a:xfrm>
          <a:prstGeom prst="rect">
            <a:avLst/>
          </a:prstGeom>
          <a:noFill/>
          <a:ln/>
        </p:spPr>
        <p:txBody>
          <a:bodyPr wrap="square" lIns="0" tIns="0" rIns="0" bIns="0" rtlCol="0" anchor="ctr"/>
          <a:lstStyle/>
          <a:p>
            <a:pPr indent="0" marL="0">
              <a:buNone/>
            </a:pPr>
            <a:r>
              <a:rPr lang="en-US" sz="1600" b="1" dirty="0">
                <a:solidFill>
                  <a:schemeClr val="tx2"/>
                </a:solidFill>
              </a:rPr>
              <a:t>Deterministic maths</a:t>
            </a:r>
            <a:endParaRPr lang="en-US" sz="1600" dirty="0"/>
          </a:p>
        </p:txBody>
      </p:sp>
      <p:sp>
        <p:nvSpPr>
          <p:cNvPr id="7" name="eff-b-0"/>
          <p:cNvSpPr txBox="1"/>
          <p:nvPr/>
        </p:nvSpPr>
        <p:spPr>
          <a:xfrm>
            <a:off x="777240" y="2194560"/>
            <a:ext cx="3154680" cy="777240"/>
          </a:xfrm>
          <a:prstGeom prst="rect">
            <a:avLst/>
          </a:prstGeom>
          <a:noFill/>
          <a:ln/>
        </p:spPr>
        <p:txBody>
          <a:bodyPr wrap="square" lIns="0" tIns="0" rIns="0" bIns="0" rtlCol="0" anchor="t"/>
          <a:lstStyle/>
          <a:p>
            <a:pPr indent="0" marL="0">
              <a:buNone/>
            </a:pPr>
            <a:r>
              <a:rPr lang="en-US" sz="1300" dirty="0">
                <a:solidFill>
                  <a:schemeClr val="tx1"/>
                </a:solidFill>
              </a:rPr>
              <a:t>numbers come from code, so the model is called rarely and briefly</a:t>
            </a:r>
            <a:endParaRPr lang="en-US" sz="1300" dirty="0"/>
          </a:p>
        </p:txBody>
      </p:sp>
      <p:sp>
        <p:nvSpPr>
          <p:cNvPr id="8" name="eff-card-1"/>
          <p:cNvSpPr/>
          <p:nvPr/>
        </p:nvSpPr>
        <p:spPr>
          <a:xfrm>
            <a:off x="4297680" y="1325880"/>
            <a:ext cx="3566160" cy="1691640"/>
          </a:xfrm>
          <a:prstGeom prst="roundRect">
            <a:avLst>
              <a:gd name="adj" fmla="val 6486"/>
            </a:avLst>
          </a:prstGeom>
          <a:solidFill>
            <a:schemeClr val="bg2"/>
          </a:solidFill>
          <a:ln w="12700">
            <a:solidFill>
              <a:schemeClr val="bg2"/>
            </a:solidFill>
            <a:prstDash val="solid"/>
          </a:ln>
        </p:spPr>
      </p:sp>
      <p:sp>
        <p:nvSpPr>
          <p:cNvPr id="9" name="eff-bg-1"/>
          <p:cNvSpPr/>
          <p:nvPr/>
        </p:nvSpPr>
        <p:spPr>
          <a:xfrm>
            <a:off x="4526280" y="1554480"/>
            <a:ext cx="548640" cy="548640"/>
          </a:xfrm>
          <a:prstGeom prst="ellipse">
            <a:avLst/>
          </a:prstGeom>
          <a:solidFill>
            <a:schemeClr val="tx2"/>
          </a:solidFill>
          <a:ln w="12700">
            <a:solidFill>
              <a:schemeClr val="tx2"/>
            </a:solidFill>
            <a:prstDash val="solid"/>
          </a:ln>
        </p:spPr>
      </p:sp>
      <p:pic>
        <p:nvPicPr>
          <p:cNvPr id="10" name="eff-icon-1" descr="preencoded.png">    </p:cNvPr>
          <p:cNvPicPr>
            <a:picLocks noChangeAspect="1"/>
          </p:cNvPicPr>
          <p:nvPr/>
        </p:nvPicPr>
        <p:blipFill>
          <a:blip r:embed="rId2"/>
          <a:stretch>
            <a:fillRect/>
          </a:stretch>
        </p:blipFill>
        <p:spPr>
          <a:xfrm>
            <a:off x="4663440" y="1691640"/>
            <a:ext cx="274320" cy="274320"/>
          </a:xfrm>
          <a:prstGeom prst="rect">
            <a:avLst/>
          </a:prstGeom>
        </p:spPr>
      </p:pic>
      <p:sp>
        <p:nvSpPr>
          <p:cNvPr id="11" name="eff-h-1"/>
          <p:cNvSpPr txBox="1"/>
          <p:nvPr/>
        </p:nvSpPr>
        <p:spPr>
          <a:xfrm>
            <a:off x="5212080" y="1581912"/>
            <a:ext cx="2514600" cy="502920"/>
          </a:xfrm>
          <a:prstGeom prst="rect">
            <a:avLst/>
          </a:prstGeom>
          <a:noFill/>
          <a:ln/>
        </p:spPr>
        <p:txBody>
          <a:bodyPr wrap="square" lIns="0" tIns="0" rIns="0" bIns="0" rtlCol="0" anchor="ctr"/>
          <a:lstStyle/>
          <a:p>
            <a:pPr indent="0" marL="0">
              <a:buNone/>
            </a:pPr>
            <a:r>
              <a:rPr lang="en-US" sz="1600" b="1" dirty="0">
                <a:solidFill>
                  <a:schemeClr val="tx2"/>
                </a:solidFill>
              </a:rPr>
              <a:t>One local open model</a:t>
            </a:r>
            <a:endParaRPr lang="en-US" sz="1600" dirty="0"/>
          </a:p>
        </p:txBody>
      </p:sp>
      <p:sp>
        <p:nvSpPr>
          <p:cNvPr id="12" name="eff-b-1"/>
          <p:cNvSpPr txBox="1"/>
          <p:nvPr/>
        </p:nvSpPr>
        <p:spPr>
          <a:xfrm>
            <a:off x="4526280" y="2194560"/>
            <a:ext cx="3154680" cy="777240"/>
          </a:xfrm>
          <a:prstGeom prst="rect">
            <a:avLst/>
          </a:prstGeom>
          <a:noFill/>
          <a:ln/>
        </p:spPr>
        <p:txBody>
          <a:bodyPr wrap="square" lIns="0" tIns="0" rIns="0" bIns="0" rtlCol="0" anchor="t"/>
          <a:lstStyle/>
          <a:p>
            <a:pPr indent="0" marL="0">
              <a:buNone/>
            </a:pPr>
            <a:r>
              <a:rPr lang="en-US" sz="1300" dirty="0">
                <a:solidFill>
                  <a:schemeClr val="tx1"/>
                </a:solidFill>
              </a:rPr>
              <a:t>gpt-oss-20b (Apache-2.0), ~3.6B active parameters, low reasoning by default</a:t>
            </a:r>
            <a:endParaRPr lang="en-US" sz="1300" dirty="0"/>
          </a:p>
        </p:txBody>
      </p:sp>
      <p:sp>
        <p:nvSpPr>
          <p:cNvPr id="13" name="eff-card-2"/>
          <p:cNvSpPr/>
          <p:nvPr/>
        </p:nvSpPr>
        <p:spPr>
          <a:xfrm>
            <a:off x="8046720" y="1325880"/>
            <a:ext cx="3566160" cy="1691640"/>
          </a:xfrm>
          <a:prstGeom prst="roundRect">
            <a:avLst>
              <a:gd name="adj" fmla="val 6486"/>
            </a:avLst>
          </a:prstGeom>
          <a:solidFill>
            <a:schemeClr val="bg2"/>
          </a:solidFill>
          <a:ln w="12700">
            <a:solidFill>
              <a:schemeClr val="bg2"/>
            </a:solidFill>
            <a:prstDash val="solid"/>
          </a:ln>
        </p:spPr>
      </p:sp>
      <p:sp>
        <p:nvSpPr>
          <p:cNvPr id="14" name="eff-bg-2"/>
          <p:cNvSpPr/>
          <p:nvPr/>
        </p:nvSpPr>
        <p:spPr>
          <a:xfrm>
            <a:off x="8275320" y="1554480"/>
            <a:ext cx="548640" cy="548640"/>
          </a:xfrm>
          <a:prstGeom prst="ellipse">
            <a:avLst/>
          </a:prstGeom>
          <a:solidFill>
            <a:schemeClr val="tx2"/>
          </a:solidFill>
          <a:ln w="12700">
            <a:solidFill>
              <a:schemeClr val="tx2"/>
            </a:solidFill>
            <a:prstDash val="solid"/>
          </a:ln>
        </p:spPr>
      </p:sp>
      <p:pic>
        <p:nvPicPr>
          <p:cNvPr id="15" name="eff-icon-2" descr="preencoded.png">    </p:cNvPr>
          <p:cNvPicPr>
            <a:picLocks noChangeAspect="1"/>
          </p:cNvPicPr>
          <p:nvPr/>
        </p:nvPicPr>
        <p:blipFill>
          <a:blip r:embed="rId3"/>
          <a:stretch>
            <a:fillRect/>
          </a:stretch>
        </p:blipFill>
        <p:spPr>
          <a:xfrm>
            <a:off x="8412480" y="1691640"/>
            <a:ext cx="274320" cy="274320"/>
          </a:xfrm>
          <a:prstGeom prst="rect">
            <a:avLst/>
          </a:prstGeom>
        </p:spPr>
      </p:pic>
      <p:sp>
        <p:nvSpPr>
          <p:cNvPr id="16" name="eff-h-2"/>
          <p:cNvSpPr txBox="1"/>
          <p:nvPr/>
        </p:nvSpPr>
        <p:spPr>
          <a:xfrm>
            <a:off x="8961120" y="1581912"/>
            <a:ext cx="2514600" cy="502920"/>
          </a:xfrm>
          <a:prstGeom prst="rect">
            <a:avLst/>
          </a:prstGeom>
          <a:noFill/>
          <a:ln/>
        </p:spPr>
        <p:txBody>
          <a:bodyPr wrap="square" lIns="0" tIns="0" rIns="0" bIns="0" rtlCol="0" anchor="ctr"/>
          <a:lstStyle/>
          <a:p>
            <a:pPr indent="0" marL="0">
              <a:buNone/>
            </a:pPr>
            <a:r>
              <a:rPr lang="en-US" sz="1600" b="1" dirty="0">
                <a:solidFill>
                  <a:schemeClr val="tx2"/>
                </a:solidFill>
              </a:rPr>
              <a:t>No LLM in CI</a:t>
            </a:r>
            <a:endParaRPr lang="en-US" sz="1600" dirty="0"/>
          </a:p>
        </p:txBody>
      </p:sp>
      <p:sp>
        <p:nvSpPr>
          <p:cNvPr id="17" name="eff-b-2"/>
          <p:cNvSpPr txBox="1"/>
          <p:nvPr/>
        </p:nvSpPr>
        <p:spPr>
          <a:xfrm>
            <a:off x="8275320" y="2194560"/>
            <a:ext cx="3154680" cy="777240"/>
          </a:xfrm>
          <a:prstGeom prst="rect">
            <a:avLst/>
          </a:prstGeom>
          <a:noFill/>
          <a:ln/>
        </p:spPr>
        <p:txBody>
          <a:bodyPr wrap="square" lIns="0" tIns="0" rIns="0" bIns="0" rtlCol="0" anchor="t"/>
          <a:lstStyle/>
          <a:p>
            <a:pPr indent="0" marL="0">
              <a:buNone/>
            </a:pPr>
            <a:r>
              <a:rPr lang="en-US" sz="1300" dirty="0">
                <a:solidFill>
                  <a:schemeClr val="tx1"/>
                </a:solidFill>
              </a:rPr>
              <a:t>the gate is arithmetic over a plan and finishes in seconds</a:t>
            </a:r>
            <a:endParaRPr lang="en-US" sz="1300" dirty="0"/>
          </a:p>
        </p:txBody>
      </p:sp>
      <p:sp>
        <p:nvSpPr>
          <p:cNvPr id="18" name="eff-card-3"/>
          <p:cNvSpPr/>
          <p:nvPr/>
        </p:nvSpPr>
        <p:spPr>
          <a:xfrm>
            <a:off x="548640" y="3200400"/>
            <a:ext cx="3566160" cy="1691640"/>
          </a:xfrm>
          <a:prstGeom prst="roundRect">
            <a:avLst>
              <a:gd name="adj" fmla="val 6486"/>
            </a:avLst>
          </a:prstGeom>
          <a:solidFill>
            <a:schemeClr val="bg2"/>
          </a:solidFill>
          <a:ln w="12700">
            <a:solidFill>
              <a:schemeClr val="bg2"/>
            </a:solidFill>
            <a:prstDash val="solid"/>
          </a:ln>
        </p:spPr>
      </p:sp>
      <p:sp>
        <p:nvSpPr>
          <p:cNvPr id="19" name="eff-bg-3"/>
          <p:cNvSpPr/>
          <p:nvPr/>
        </p:nvSpPr>
        <p:spPr>
          <a:xfrm>
            <a:off x="777240" y="3429000"/>
            <a:ext cx="548640" cy="548640"/>
          </a:xfrm>
          <a:prstGeom prst="ellipse">
            <a:avLst/>
          </a:prstGeom>
          <a:solidFill>
            <a:schemeClr val="tx2"/>
          </a:solidFill>
          <a:ln w="12700">
            <a:solidFill>
              <a:schemeClr val="tx2"/>
            </a:solidFill>
            <a:prstDash val="solid"/>
          </a:ln>
        </p:spPr>
      </p:sp>
      <p:pic>
        <p:nvPicPr>
          <p:cNvPr id="20" name="eff-icon-3" descr="preencoded.png">    </p:cNvPr>
          <p:cNvPicPr>
            <a:picLocks noChangeAspect="1"/>
          </p:cNvPicPr>
          <p:nvPr/>
        </p:nvPicPr>
        <p:blipFill>
          <a:blip r:embed="rId4"/>
          <a:stretch>
            <a:fillRect/>
          </a:stretch>
        </p:blipFill>
        <p:spPr>
          <a:xfrm>
            <a:off x="914400" y="3566160"/>
            <a:ext cx="274320" cy="274320"/>
          </a:xfrm>
          <a:prstGeom prst="rect">
            <a:avLst/>
          </a:prstGeom>
        </p:spPr>
      </p:pic>
      <p:sp>
        <p:nvSpPr>
          <p:cNvPr id="21" name="eff-h-3"/>
          <p:cNvSpPr txBox="1"/>
          <p:nvPr/>
        </p:nvSpPr>
        <p:spPr>
          <a:xfrm>
            <a:off x="1463040" y="3456432"/>
            <a:ext cx="2514600" cy="502920"/>
          </a:xfrm>
          <a:prstGeom prst="rect">
            <a:avLst/>
          </a:prstGeom>
          <a:noFill/>
          <a:ln/>
        </p:spPr>
        <p:txBody>
          <a:bodyPr wrap="square" lIns="0" tIns="0" rIns="0" bIns="0" rtlCol="0" anchor="ctr"/>
          <a:lstStyle/>
          <a:p>
            <a:pPr indent="0" marL="0">
              <a:buNone/>
            </a:pPr>
            <a:r>
              <a:rPr lang="en-US" sz="1600" b="1" dirty="0">
                <a:solidFill>
                  <a:schemeClr val="tx2"/>
                </a:solidFill>
              </a:rPr>
              <a:t>Templates, not generated code</a:t>
            </a:r>
            <a:endParaRPr lang="en-US" sz="1600" dirty="0"/>
          </a:p>
        </p:txBody>
      </p:sp>
      <p:sp>
        <p:nvSpPr>
          <p:cNvPr id="22" name="eff-b-3"/>
          <p:cNvSpPr txBox="1"/>
          <p:nvPr/>
        </p:nvSpPr>
        <p:spPr>
          <a:xfrm>
            <a:off x="777240" y="4069080"/>
            <a:ext cx="3154680" cy="777240"/>
          </a:xfrm>
          <a:prstGeom prst="rect">
            <a:avLst/>
          </a:prstGeom>
          <a:noFill/>
          <a:ln/>
        </p:spPr>
        <p:txBody>
          <a:bodyPr wrap="square" lIns="0" tIns="0" rIns="0" bIns="0" rtlCol="0" anchor="t"/>
          <a:lstStyle/>
          <a:p>
            <a:pPr indent="0" marL="0">
              <a:buNone/>
            </a:pPr>
            <a:r>
              <a:rPr lang="en-US" sz="1300" dirty="0">
                <a:solidFill>
                  <a:schemeClr val="tx1"/>
                </a:solidFill>
              </a:rPr>
              <a:t>fewer failed plans, fewer tokens, reviewable diffs</a:t>
            </a:r>
            <a:endParaRPr lang="en-US" sz="1300" dirty="0"/>
          </a:p>
        </p:txBody>
      </p:sp>
      <p:sp>
        <p:nvSpPr>
          <p:cNvPr id="23" name="eff-card-4"/>
          <p:cNvSpPr/>
          <p:nvPr/>
        </p:nvSpPr>
        <p:spPr>
          <a:xfrm>
            <a:off x="4297680" y="3200400"/>
            <a:ext cx="3566160" cy="1691640"/>
          </a:xfrm>
          <a:prstGeom prst="roundRect">
            <a:avLst>
              <a:gd name="adj" fmla="val 6486"/>
            </a:avLst>
          </a:prstGeom>
          <a:solidFill>
            <a:schemeClr val="bg2"/>
          </a:solidFill>
          <a:ln w="12700">
            <a:solidFill>
              <a:schemeClr val="bg2"/>
            </a:solidFill>
            <a:prstDash val="solid"/>
          </a:ln>
        </p:spPr>
      </p:sp>
      <p:sp>
        <p:nvSpPr>
          <p:cNvPr id="24" name="eff-bg-4"/>
          <p:cNvSpPr/>
          <p:nvPr/>
        </p:nvSpPr>
        <p:spPr>
          <a:xfrm>
            <a:off x="4526280" y="3429000"/>
            <a:ext cx="548640" cy="548640"/>
          </a:xfrm>
          <a:prstGeom prst="ellipse">
            <a:avLst/>
          </a:prstGeom>
          <a:solidFill>
            <a:schemeClr val="tx2"/>
          </a:solidFill>
          <a:ln w="12700">
            <a:solidFill>
              <a:schemeClr val="tx2"/>
            </a:solidFill>
            <a:prstDash val="solid"/>
          </a:ln>
        </p:spPr>
      </p:sp>
      <p:pic>
        <p:nvPicPr>
          <p:cNvPr id="25" name="eff-icon-4" descr="preencoded.png">    </p:cNvPr>
          <p:cNvPicPr>
            <a:picLocks noChangeAspect="1"/>
          </p:cNvPicPr>
          <p:nvPr/>
        </p:nvPicPr>
        <p:blipFill>
          <a:blip r:embed="rId5"/>
          <a:stretch>
            <a:fillRect/>
          </a:stretch>
        </p:blipFill>
        <p:spPr>
          <a:xfrm>
            <a:off x="4663440" y="3566160"/>
            <a:ext cx="274320" cy="274320"/>
          </a:xfrm>
          <a:prstGeom prst="rect">
            <a:avLst/>
          </a:prstGeom>
        </p:spPr>
      </p:pic>
      <p:sp>
        <p:nvSpPr>
          <p:cNvPr id="26" name="eff-h-4"/>
          <p:cNvSpPr txBox="1"/>
          <p:nvPr/>
        </p:nvSpPr>
        <p:spPr>
          <a:xfrm>
            <a:off x="5212080" y="3456432"/>
            <a:ext cx="2514600" cy="502920"/>
          </a:xfrm>
          <a:prstGeom prst="rect">
            <a:avLst/>
          </a:prstGeom>
          <a:noFill/>
          <a:ln/>
        </p:spPr>
        <p:txBody>
          <a:bodyPr wrap="square" lIns="0" tIns="0" rIns="0" bIns="0" rtlCol="0" anchor="ctr"/>
          <a:lstStyle/>
          <a:p>
            <a:pPr indent="0" marL="0">
              <a:buNone/>
            </a:pPr>
            <a:r>
              <a:rPr lang="en-US" sz="1600" b="1" dirty="0">
                <a:solidFill>
                  <a:schemeClr val="tx2"/>
                </a:solidFill>
              </a:rPr>
              <a:t>Hard budgets + offline mode</a:t>
            </a:r>
            <a:endParaRPr lang="en-US" sz="1600" dirty="0"/>
          </a:p>
        </p:txBody>
      </p:sp>
      <p:sp>
        <p:nvSpPr>
          <p:cNvPr id="27" name="eff-b-4"/>
          <p:cNvSpPr txBox="1"/>
          <p:nvPr/>
        </p:nvSpPr>
        <p:spPr>
          <a:xfrm>
            <a:off x="4526280" y="4069080"/>
            <a:ext cx="3154680" cy="777240"/>
          </a:xfrm>
          <a:prstGeom prst="rect">
            <a:avLst/>
          </a:prstGeom>
          <a:noFill/>
          <a:ln/>
        </p:spPr>
        <p:txBody>
          <a:bodyPr wrap="square" lIns="0" tIns="0" rIns="0" bIns="0" rtlCol="0" anchor="t"/>
          <a:lstStyle/>
          <a:p>
            <a:pPr indent="0" marL="0">
              <a:buNone/>
            </a:pPr>
            <a:r>
              <a:rPr lang="en-US" sz="1300" dirty="0">
                <a:solidFill>
                  <a:schemeClr val="tx1"/>
                </a:solidFill>
              </a:rPr>
              <a:t>caps on calls, tokens, repairs, time; an LLM-free baseline to compare against</a:t>
            </a:r>
            <a:endParaRPr lang="en-US" sz="1300" dirty="0"/>
          </a:p>
        </p:txBody>
      </p:sp>
      <p:sp>
        <p:nvSpPr>
          <p:cNvPr id="28" name="eff-card-5"/>
          <p:cNvSpPr/>
          <p:nvPr/>
        </p:nvSpPr>
        <p:spPr>
          <a:xfrm>
            <a:off x="8046720" y="3200400"/>
            <a:ext cx="3566160" cy="1691640"/>
          </a:xfrm>
          <a:prstGeom prst="roundRect">
            <a:avLst>
              <a:gd name="adj" fmla="val 6486"/>
            </a:avLst>
          </a:prstGeom>
          <a:solidFill>
            <a:schemeClr val="bg2"/>
          </a:solidFill>
          <a:ln w="12700">
            <a:solidFill>
              <a:schemeClr val="bg2"/>
            </a:solidFill>
            <a:prstDash val="solid"/>
          </a:ln>
        </p:spPr>
      </p:sp>
      <p:sp>
        <p:nvSpPr>
          <p:cNvPr id="29" name="eff-bg-5"/>
          <p:cNvSpPr/>
          <p:nvPr/>
        </p:nvSpPr>
        <p:spPr>
          <a:xfrm>
            <a:off x="8275320" y="3429000"/>
            <a:ext cx="548640" cy="548640"/>
          </a:xfrm>
          <a:prstGeom prst="ellipse">
            <a:avLst/>
          </a:prstGeom>
          <a:solidFill>
            <a:schemeClr val="tx2"/>
          </a:solidFill>
          <a:ln w="12700">
            <a:solidFill>
              <a:schemeClr val="tx2"/>
            </a:solidFill>
            <a:prstDash val="solid"/>
          </a:ln>
        </p:spPr>
      </p:sp>
      <p:pic>
        <p:nvPicPr>
          <p:cNvPr id="30" name="eff-icon-5" descr="preencoded.png">    </p:cNvPr>
          <p:cNvPicPr>
            <a:picLocks noChangeAspect="1"/>
          </p:cNvPicPr>
          <p:nvPr/>
        </p:nvPicPr>
        <p:blipFill>
          <a:blip r:embed="rId6"/>
          <a:stretch>
            <a:fillRect/>
          </a:stretch>
        </p:blipFill>
        <p:spPr>
          <a:xfrm>
            <a:off x="8412480" y="3566160"/>
            <a:ext cx="274320" cy="274320"/>
          </a:xfrm>
          <a:prstGeom prst="rect">
            <a:avLst/>
          </a:prstGeom>
        </p:spPr>
      </p:pic>
      <p:sp>
        <p:nvSpPr>
          <p:cNvPr id="31" name="eff-h-5"/>
          <p:cNvSpPr txBox="1"/>
          <p:nvPr/>
        </p:nvSpPr>
        <p:spPr>
          <a:xfrm>
            <a:off x="8961120" y="3456432"/>
            <a:ext cx="2514600" cy="502920"/>
          </a:xfrm>
          <a:prstGeom prst="rect">
            <a:avLst/>
          </a:prstGeom>
          <a:noFill/>
          <a:ln/>
        </p:spPr>
        <p:txBody>
          <a:bodyPr wrap="square" lIns="0" tIns="0" rIns="0" bIns="0" rtlCol="0" anchor="ctr"/>
          <a:lstStyle/>
          <a:p>
            <a:pPr indent="0" marL="0">
              <a:buNone/>
            </a:pPr>
            <a:r>
              <a:rPr lang="en-US" sz="1600" b="1" dirty="0">
                <a:solidFill>
                  <a:schemeClr val="tx2"/>
                </a:solidFill>
              </a:rPr>
              <a:t>Nothing deployed</a:t>
            </a:r>
            <a:endParaRPr lang="en-US" sz="1600" dirty="0"/>
          </a:p>
        </p:txBody>
      </p:sp>
      <p:sp>
        <p:nvSpPr>
          <p:cNvPr id="32" name="eff-b-5"/>
          <p:cNvSpPr txBox="1"/>
          <p:nvPr/>
        </p:nvSpPr>
        <p:spPr>
          <a:xfrm>
            <a:off x="8275320" y="4069080"/>
            <a:ext cx="3154680" cy="777240"/>
          </a:xfrm>
          <a:prstGeom prst="rect">
            <a:avLst/>
          </a:prstGeom>
          <a:noFill/>
          <a:ln/>
        </p:spPr>
        <p:txBody>
          <a:bodyPr wrap="square" lIns="0" tIns="0" rIns="0" bIns="0" rtlCol="0" anchor="t"/>
          <a:lstStyle/>
          <a:p>
            <a:pPr indent="0" marL="0">
              <a:buNone/>
            </a:pPr>
            <a:r>
              <a:rPr lang="en-US" sz="1300" dirty="0">
                <a:solidFill>
                  <a:schemeClr val="tx1"/>
                </a:solidFill>
              </a:rPr>
              <a:t>one process that runs and exits; providers from a local mirror</a:t>
            </a:r>
            <a:endParaRPr lang="en-US" sz="1300" dirty="0"/>
          </a:p>
        </p:txBody>
      </p:sp>
      <p:sp>
        <p:nvSpPr>
          <p:cNvPr id="33" name="sci-band"/>
          <p:cNvSpPr/>
          <p:nvPr/>
        </p:nvSpPr>
        <p:spPr>
          <a:xfrm>
            <a:off x="548640" y="5166360"/>
            <a:ext cx="11064240" cy="1005840"/>
          </a:xfrm>
          <a:prstGeom prst="roundRect">
            <a:avLst>
              <a:gd name="adj" fmla="val 10909"/>
            </a:avLst>
          </a:prstGeom>
          <a:solidFill>
            <a:schemeClr val="tx2"/>
          </a:solidFill>
          <a:ln w="12700">
            <a:solidFill>
              <a:schemeClr val="tx2"/>
            </a:solidFill>
            <a:prstDash val="solid"/>
          </a:ln>
        </p:spPr>
      </p:sp>
      <p:sp>
        <p:nvSpPr>
          <p:cNvPr id="34" name="sci-text"/>
          <p:cNvSpPr txBox="1"/>
          <p:nvPr/>
        </p:nvSpPr>
        <p:spPr>
          <a:xfrm>
            <a:off x="822960" y="5257800"/>
            <a:ext cx="10515600" cy="822960"/>
          </a:xfrm>
          <a:prstGeom prst="rect">
            <a:avLst/>
          </a:prstGeom>
          <a:noFill/>
          <a:ln/>
        </p:spPr>
        <p:txBody>
          <a:bodyPr wrap="square" lIns="0" tIns="0" rIns="0" bIns="0" rtlCol="0" anchor="ctr"/>
          <a:lstStyle/>
          <a:p>
            <a:pPr indent="0" marL="0">
              <a:buNone/>
            </a:pPr>
            <a:r>
              <a:rPr lang="en-US" sz="1400" b="1" dirty="0">
                <a:solidFill>
                  <a:schemeClr val="bg1"/>
                </a:solidFill>
              </a:rPr>
              <a:t>Own footprint, every run:  </a:t>
            </a:r>
            <a:pPr indent="0" marL="0">
              <a:buNone/>
            </a:pPr>
            <a:r>
              <a:rPr lang="en-US" sz="1400" dirty="0">
                <a:solidFill>
                  <a:schemeClr val="accent6"/>
                </a:solidFill>
              </a:rPr>
              <a:t>CodeCarbon wraps the whole run, model included → kWh, kgCO2e per run (SCI, ISO/IEC 21031), tokens, and payback ratio = kgCO2e/yr proposed ÷ kgCO2e emitted. Labelled 'estimated' where the laptop has no power counters.</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F67"/>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Cambria" pitchFamily="34" charset="0"/>
                <a:ea typeface="Cambria" pitchFamily="34" charset="-122"/>
                <a:cs typeface="Cambria" pitchFamily="34" charset="-120"/>
              </a:rPr>
              <a:t>Roadmap</a:t>
            </a:r>
            <a:endParaRPr lang="en-US" sz="3200" dirty="0"/>
          </a:p>
        </p:txBody>
      </p:sp>
      <p:sp>
        <p:nvSpPr>
          <p:cNvPr id="3" name="road-dot-0"/>
          <p:cNvSpPr/>
          <p:nvPr/>
        </p:nvSpPr>
        <p:spPr>
          <a:xfrm>
            <a:off x="548640" y="1417320"/>
            <a:ext cx="292608" cy="292608"/>
          </a:xfrm>
          <a:prstGeom prst="ellipse">
            <a:avLst/>
          </a:prstGeom>
          <a:solidFill>
            <a:schemeClr val="accent6"/>
          </a:solidFill>
          <a:ln w="12700">
            <a:solidFill>
              <a:schemeClr val="accent6"/>
            </a:solidFill>
            <a:prstDash val="solid"/>
          </a:ln>
        </p:spPr>
      </p:sp>
      <p:sp>
        <p:nvSpPr>
          <p:cNvPr id="4" name="road-h-0"/>
          <p:cNvSpPr txBox="1"/>
          <p:nvPr/>
        </p:nvSpPr>
        <p:spPr>
          <a:xfrm>
            <a:off x="1005840" y="1371600"/>
            <a:ext cx="3108960" cy="411480"/>
          </a:xfrm>
          <a:prstGeom prst="rect">
            <a:avLst/>
          </a:prstGeom>
          <a:noFill/>
          <a:ln/>
        </p:spPr>
        <p:txBody>
          <a:bodyPr wrap="square" lIns="0" tIns="0" rIns="0" bIns="0" rtlCol="0" anchor="t"/>
          <a:lstStyle/>
          <a:p>
            <a:pPr indent="0" marL="0">
              <a:buNone/>
            </a:pPr>
            <a:r>
              <a:rPr lang="en-US" sz="2000" b="1" dirty="0">
                <a:solidFill>
                  <a:schemeClr val="accent6"/>
                </a:solidFill>
              </a:rPr>
              <a:t>This submission</a:t>
            </a:r>
            <a:endParaRPr lang="en-US" sz="2000" dirty="0"/>
          </a:p>
        </p:txBody>
      </p:sp>
      <p:sp>
        <p:nvSpPr>
          <p:cNvPr id="5" name="road-list-0"/>
          <p:cNvSpPr txBox="1"/>
          <p:nvPr/>
        </p:nvSpPr>
        <p:spPr>
          <a:xfrm>
            <a:off x="548640" y="2011680"/>
            <a:ext cx="347472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Sweep, offline and with a local LLM</a:t>
            </a:r>
            <a:endParaRPr lang="en-US" sz="1500" dirty="0"/>
          </a:p>
          <a:p>
            <a:pPr marL="342900" indent="-342900">
              <a:spcAft>
                <a:spcPts val="1000"/>
              </a:spcAft>
              <a:buSzPct val="100000"/>
              <a:buChar char="•"/>
            </a:pPr>
            <a:r>
              <a:rPr lang="en-US" sz="1500" dirty="0">
                <a:solidFill>
                  <a:schemeClr val="bg1"/>
                </a:solidFill>
              </a:rPr>
              <a:t>PR gate in GitHub Actions with acknowledgement</a:t>
            </a:r>
            <a:endParaRPr lang="en-US" sz="1500" dirty="0"/>
          </a:p>
          <a:p>
            <a:pPr marL="342900" indent="-342900">
              <a:spcAft>
                <a:spcPts val="1000"/>
              </a:spcAft>
              <a:buSzPct val="100000"/>
              <a:buChar char="•"/>
            </a:pPr>
            <a:r>
              <a:rPr lang="en-US" sz="1500" dirty="0">
                <a:solidFill>
                  <a:schemeClr val="bg1"/>
                </a:solidFill>
              </a:rPr>
              <a:t>Guardrails, five fix templates, plan validation</a:t>
            </a:r>
            <a:endParaRPr lang="en-US" sz="1500" dirty="0"/>
          </a:p>
          <a:p>
            <a:pPr marL="342900" indent="-342900">
              <a:spcAft>
                <a:spcPts val="1000"/>
              </a:spcAft>
              <a:buSzPct val="100000"/>
              <a:buChar char="•"/>
            </a:pPr>
            <a:r>
              <a:rPr lang="en-US" sz="1500" dirty="0">
                <a:solidFill>
                  <a:schemeClr val="bg1"/>
                </a:solidFill>
              </a:rPr>
              <a:t>Own footprint in every run report</a:t>
            </a:r>
            <a:endParaRPr lang="en-US" sz="1500" dirty="0"/>
          </a:p>
        </p:txBody>
      </p:sp>
      <p:sp>
        <p:nvSpPr>
          <p:cNvPr id="6" name="road-dot-1"/>
          <p:cNvSpPr/>
          <p:nvPr/>
        </p:nvSpPr>
        <p:spPr>
          <a:xfrm>
            <a:off x="4297680" y="1417320"/>
            <a:ext cx="292608" cy="292608"/>
          </a:xfrm>
          <a:prstGeom prst="ellipse">
            <a:avLst/>
          </a:prstGeom>
          <a:solidFill>
            <a:schemeClr val="accent3"/>
          </a:solidFill>
          <a:ln w="12700">
            <a:solidFill>
              <a:schemeClr val="accent3"/>
            </a:solidFill>
            <a:prstDash val="solid"/>
          </a:ln>
        </p:spPr>
      </p:sp>
      <p:sp>
        <p:nvSpPr>
          <p:cNvPr id="7" name="road-h-1"/>
          <p:cNvSpPr txBox="1"/>
          <p:nvPr/>
        </p:nvSpPr>
        <p:spPr>
          <a:xfrm>
            <a:off x="4754880" y="1371600"/>
            <a:ext cx="3108960" cy="411480"/>
          </a:xfrm>
          <a:prstGeom prst="rect">
            <a:avLst/>
          </a:prstGeom>
          <a:noFill/>
          <a:ln/>
        </p:spPr>
        <p:txBody>
          <a:bodyPr wrap="square" lIns="0" tIns="0" rIns="0" bIns="0" rtlCol="0" anchor="t"/>
          <a:lstStyle/>
          <a:p>
            <a:pPr indent="0" marL="0">
              <a:buNone/>
            </a:pPr>
            <a:r>
              <a:rPr lang="en-US" sz="2000" b="1" dirty="0">
                <a:solidFill>
                  <a:schemeClr val="accent3"/>
                </a:solidFill>
              </a:rPr>
              <a:t>Next</a:t>
            </a:r>
            <a:endParaRPr lang="en-US" sz="2000" dirty="0"/>
          </a:p>
        </p:txBody>
      </p:sp>
      <p:sp>
        <p:nvSpPr>
          <p:cNvPr id="8" name="road-list-1"/>
          <p:cNvSpPr txBox="1"/>
          <p:nvPr/>
        </p:nvSpPr>
        <p:spPr>
          <a:xfrm>
            <a:off x="4297680" y="2011680"/>
            <a:ext cx="347472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Measured model bake-off (gpt-oss vs Qwen)</a:t>
            </a:r>
            <a:endParaRPr lang="en-US" sz="1500" dirty="0"/>
          </a:p>
          <a:p>
            <a:pPr marL="342900" indent="-342900">
              <a:spcAft>
                <a:spcPts val="1000"/>
              </a:spcAft>
              <a:buSzPct val="100000"/>
              <a:buChar char="•"/>
            </a:pPr>
            <a:r>
              <a:rPr lang="en-US" sz="1500" dirty="0">
                <a:solidFill>
                  <a:schemeClr val="bg1"/>
                </a:solidFill>
              </a:rPr>
              <a:t>Real fix PRs; rejection labels become rules</a:t>
            </a:r>
            <a:endParaRPr lang="en-US" sz="1500" dirty="0"/>
          </a:p>
          <a:p>
            <a:pPr marL="342900" indent="-342900">
              <a:spcAft>
                <a:spcPts val="1000"/>
              </a:spcAft>
              <a:buSzPct val="100000"/>
              <a:buChar char="•"/>
            </a:pPr>
            <a:r>
              <a:rPr lang="en-US" sz="1500" dirty="0">
                <a:solidFill>
                  <a:schemeClr val="bg1"/>
                </a:solidFill>
              </a:rPr>
              <a:t>Live grid API for time-shifting</a:t>
            </a:r>
            <a:endParaRPr lang="en-US" sz="1500" dirty="0"/>
          </a:p>
          <a:p>
            <a:pPr marL="342900" indent="-342900">
              <a:spcAft>
                <a:spcPts val="1000"/>
              </a:spcAft>
              <a:buSzPct val="100000"/>
              <a:buChar char="•"/>
            </a:pPr>
            <a:r>
              <a:rPr lang="en-US" sz="1500" dirty="0">
                <a:solidFill>
                  <a:schemeClr val="bg1"/>
                </a:solidFill>
              </a:rPr>
              <a:t>Calibrate assumed loads against what deploys</a:t>
            </a:r>
            <a:endParaRPr lang="en-US" sz="1500" dirty="0"/>
          </a:p>
        </p:txBody>
      </p:sp>
      <p:sp>
        <p:nvSpPr>
          <p:cNvPr id="9" name="road-dot-2"/>
          <p:cNvSpPr/>
          <p:nvPr/>
        </p:nvSpPr>
        <p:spPr>
          <a:xfrm>
            <a:off x="8046720" y="1417320"/>
            <a:ext cx="292608" cy="292608"/>
          </a:xfrm>
          <a:prstGeom prst="ellipse">
            <a:avLst/>
          </a:prstGeom>
          <a:solidFill>
            <a:schemeClr val="bg1"/>
          </a:solidFill>
          <a:ln w="12700">
            <a:solidFill>
              <a:schemeClr val="bg1"/>
            </a:solidFill>
            <a:prstDash val="solid"/>
          </a:ln>
        </p:spPr>
      </p:sp>
      <p:sp>
        <p:nvSpPr>
          <p:cNvPr id="10" name="road-h-2"/>
          <p:cNvSpPr txBox="1"/>
          <p:nvPr/>
        </p:nvSpPr>
        <p:spPr>
          <a:xfrm>
            <a:off x="8503920" y="1371600"/>
            <a:ext cx="3108960" cy="411480"/>
          </a:xfrm>
          <a:prstGeom prst="rect">
            <a:avLst/>
          </a:prstGeom>
          <a:noFill/>
          <a:ln/>
        </p:spPr>
        <p:txBody>
          <a:bodyPr wrap="square" lIns="0" tIns="0" rIns="0" bIns="0" rtlCol="0" anchor="t"/>
          <a:lstStyle/>
          <a:p>
            <a:pPr indent="0" marL="0">
              <a:buNone/>
            </a:pPr>
            <a:r>
              <a:rPr lang="en-US" sz="2000" b="1" dirty="0">
                <a:solidFill>
                  <a:schemeClr val="bg1"/>
                </a:solidFill>
              </a:rPr>
              <a:t>Later</a:t>
            </a:r>
            <a:endParaRPr lang="en-US" sz="2000" dirty="0"/>
          </a:p>
        </p:txBody>
      </p:sp>
      <p:sp>
        <p:nvSpPr>
          <p:cNvPr id="11" name="road-list-2"/>
          <p:cNvSpPr txBox="1"/>
          <p:nvPr/>
        </p:nvSpPr>
        <p:spPr>
          <a:xfrm>
            <a:off x="8046720" y="2011680"/>
            <a:ext cx="347472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Azure and Google Cloud coefficients</a:t>
            </a:r>
            <a:endParaRPr lang="en-US" sz="1500" dirty="0"/>
          </a:p>
          <a:p>
            <a:pPr marL="342900" indent="-342900">
              <a:spcAft>
                <a:spcPts val="1000"/>
              </a:spcAft>
              <a:buSzPct val="100000"/>
              <a:buChar char="•"/>
            </a:pPr>
            <a:r>
              <a:rPr lang="en-US" sz="1500" dirty="0">
                <a:solidFill>
                  <a:schemeClr val="bg1"/>
                </a:solidFill>
              </a:rPr>
              <a:t>Same state machine on Step Functions</a:t>
            </a:r>
            <a:endParaRPr lang="en-US" sz="1500" dirty="0"/>
          </a:p>
          <a:p>
            <a:pPr marL="342900" indent="-342900">
              <a:spcAft>
                <a:spcPts val="1000"/>
              </a:spcAft>
              <a:buSzPct val="100000"/>
              <a:buChar char="•"/>
            </a:pPr>
            <a:r>
              <a:rPr lang="en-US" sz="1500" dirty="0">
                <a:solidFill>
                  <a:schemeClr val="bg1"/>
                </a:solidFill>
              </a:rPr>
              <a:t>Organisation-wide thresholds and reporting</a:t>
            </a:r>
            <a:endParaRPr lang="en-US" sz="1500" dirty="0"/>
          </a:p>
        </p:txBody>
      </p:sp>
      <p:sp>
        <p:nvSpPr>
          <p:cNvPr id="12" name="road-close"/>
          <p:cNvSpPr txBox="1"/>
          <p:nvPr/>
        </p:nvSpPr>
        <p:spPr>
          <a:xfrm>
            <a:off x="548640" y="557784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Code, design document, augmentation log and demo: see the repository README.</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C5A1"/>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EmissionGate">
  <a:themeElements>
    <a:clrScheme name="EmissionGate">
      <a:dk1>
        <a:srgbClr val="1B2B24"/>
      </a:dk1>
      <a:lt1>
        <a:srgbClr val="FFFFFF"/>
      </a:lt1>
      <a:dk2>
        <a:srgbClr val="0F3D2E"/>
      </a:dk2>
      <a:lt2>
        <a:srgbClr val="EEF3EF"/>
      </a:lt2>
      <a:accent1>
        <a:srgbClr val="1F7A4D"/>
      </a:accent1>
      <a:accent2>
        <a:srgbClr val="C4473A"/>
      </a:accent2>
      <a:accent3>
        <a:srgbClr val="C98A1E"/>
      </a:accent3>
      <a:accent4>
        <a:srgbClr val="2F5D7C"/>
      </a:accent4>
      <a:accent5>
        <a:srgbClr val="5F6F67"/>
      </a:accent5>
      <a:accent6>
        <a:srgbClr val="9CC5A1"/>
      </a:accent6>
      <a:hlink>
        <a:srgbClr val="2F5D7C"/>
      </a:hlink>
      <a:folHlink>
        <a:srgbClr val="5F6F67"/>
      </a:folHlink>
    </a:clrScheme>
    <a:fontScheme name="EmissionGa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EmissionGate — carbon at merge time</dc:title>
  <dc:subject>PptxGenJS Presentation</dc:subject>
  <dc:creator>Mohd Javed</dc:creator>
  <cp:lastModifiedBy>Mohd Javed</cp:lastModifiedBy>
  <cp:revision>1</cp:revision>
  <dcterms:created xsi:type="dcterms:W3CDTF">2026-10-05T06:12:10Z</dcterms:created>
  <dcterms:modified xsi:type="dcterms:W3CDTF">2026-10-05T06:12:10Z</dcterms:modified>
</cp:coreProperties>
</file>